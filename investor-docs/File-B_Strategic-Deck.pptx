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17670"/>
            <a:ext cx="9144000" cy="102870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17219"/>
            <a:ext cx="80467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31570"/>
            <a:ext cx="804672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Strategic Presentation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28925"/>
            <a:ext cx="8046720" cy="617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A94A6"/>
                </a:solidFill>
              </a:rPr>
              <a:t>Evolutionary Trajectory Fine-Tuning — Autonomous R&amp;D Acceleration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71975"/>
            <a:ext cx="80467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A94A6"/>
                </a:solidFill>
              </a:rPr>
              <a:t>Lukas Benda  ·  lukas.benda@boldpivot.cz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01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The Eroom's Law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Science is getting exponentially more expensive — and slower.</a:t>
            </a:r>
          </a:p>
          <a:p>
            <a:r>
              <a:rPr sz="1050">
                <a:solidFill>
                  <a:srgbClr val="1A1F2E"/>
                </a:solidFill>
              </a:rPr>
              <a:t>Key visual: Eroom's Law chart — R&amp;D cost per new drug doubles every nine years</a:t>
            </a:r>
          </a:p>
          <a:p>
            <a:r>
              <a:rPr sz="1050">
                <a:solidFill>
                  <a:srgbClr val="1A1F2E"/>
                </a:solidFill>
              </a:rPr>
              <a:t>(mirror image of Moore's Law). Cross-reference: AI research paper volume doubles every</a:t>
            </a:r>
          </a:p>
          <a:p>
            <a:r>
              <a:rPr sz="1050">
                <a:solidFill>
                  <a:srgbClr val="1A1F2E"/>
                </a:solidFill>
              </a:rPr>
              <a:t>18 months, yet model architectures have converged. More compute, more papers, fewer</a:t>
            </a:r>
          </a:p>
          <a:p>
            <a:r>
              <a:rPr sz="1050">
                <a:solidFill>
                  <a:srgbClr val="1A1F2E"/>
                </a:solidFill>
              </a:rPr>
              <a:t>paradigm shifts.</a:t>
            </a:r>
          </a:p>
          <a:p>
            <a:r>
              <a:rPr sz="1050">
                <a:solidFill>
                  <a:srgbClr val="1A1F2E"/>
                </a:solidFill>
              </a:rPr>
              <a:t>The pharma industry spends $2.6 billion per approved drug. The ML community produces</a:t>
            </a:r>
          </a:p>
          <a:p>
            <a:r>
              <a:rPr sz="1050">
                <a:solidFill>
                  <a:srgbClr val="1A1F2E"/>
                </a:solidFill>
              </a:rPr>
              <a:t>400,000 papers per year but ships three genuinely new architectures per decade.</a:t>
            </a:r>
          </a:p>
          <a:p>
            <a:r>
              <a:rPr sz="1050">
                <a:solidFill>
                  <a:srgbClr val="1A1F2E"/>
                </a:solidFill>
              </a:rPr>
              <a:t>The bottleneck is not compute — it is the human cognitive loop that decides *what to</a:t>
            </a:r>
          </a:p>
          <a:p>
            <a:r>
              <a:rPr sz="1050">
                <a:solidFill>
                  <a:srgbClr val="1A1F2E"/>
                </a:solidFill>
              </a:rPr>
              <a:t>experiment on next*. Eroom's Law is not an industry anomaly. It is the default trajectory</a:t>
            </a:r>
          </a:p>
          <a:p>
            <a:r>
              <a:rPr sz="1050">
                <a:solidFill>
                  <a:srgbClr val="1A1F2E"/>
                </a:solidFill>
              </a:rPr>
              <a:t>of any science driven by human intuition.</a:t>
            </a:r>
          </a:p>
          <a:p>
            <a:r>
              <a:rPr sz="1050">
                <a:solidFill>
                  <a:srgbClr val="1A1F2E"/>
                </a:solidFill>
              </a:rPr>
              <a:t>Call to action: What if the scientific method itself could be automated?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The $100B Blindspot in Every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Your AI doesn't know what it doesn't know.</a:t>
            </a:r>
          </a:p>
          <a:p>
            <a:r>
              <a:rPr sz="1050">
                <a:solidFill>
                  <a:srgbClr val="1A1F2E"/>
                </a:solidFill>
              </a:rPr>
              <a:t>Key visual: Split diagram — left: LLM frozen weight space (static, dated); right:</a:t>
            </a:r>
          </a:p>
          <a:p>
            <a:r>
              <a:rPr sz="1050">
                <a:solidFill>
                  <a:srgbClr val="1A1F2E"/>
                </a:solidFill>
              </a:rPr>
              <a:t>arXiv preprints published after training cutoff (invisible to model).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Every frontier model — GPT, Claude, Gemini — was trained on data with a hard cutoff.</a:t>
            </a:r>
          </a:p>
          <a:p>
            <a:r>
              <a:rPr sz="1050">
                <a:solidFill>
                  <a:srgbClr val="1A1F2E"/>
                </a:solidFill>
              </a:rPr>
              <a:t>The instant training ends, the model's knowledge begins to decay relative to the frontier.</a:t>
            </a:r>
          </a:p>
          <a:p>
            <a:r>
              <a:rPr sz="1050">
                <a:solidFill>
                  <a:srgbClr val="1A1F2E"/>
                </a:solidFill>
              </a:rPr>
              <a:t>This is the Knowledge Blindspot: the gap between what a model believes is SOTA and</a:t>
            </a:r>
          </a:p>
          <a:p>
            <a:r>
              <a:rPr sz="1050">
                <a:solidFill>
                  <a:srgbClr val="1A1F2E"/>
                </a:solidFill>
              </a:rPr>
              <a:t>what actually is SOTA at inference time.</a:t>
            </a:r>
          </a:p>
          <a:p>
            <a:r>
              <a:rPr sz="1050">
                <a:solidFill>
                  <a:srgbClr val="1A1F2E"/>
                </a:solidFill>
              </a:rPr>
              <a:t>Current workarounds (RAG, fine-tuning) are reactive patches, not architectural solutions.</a:t>
            </a:r>
          </a:p>
          <a:p>
            <a:r>
              <a:rPr sz="1050">
                <a:solidFill>
                  <a:srgbClr val="1A1F2E"/>
                </a:solidFill>
              </a:rPr>
              <a:t>ETFT eliminates the blindspot structurally.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Introducing the Discrete Gradient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Algorithms don't appear. They evolve.</a:t>
            </a:r>
          </a:p>
          <a:p>
            <a:r>
              <a:rPr sz="1050">
                <a:solidFill>
                  <a:srgbClr val="1A1F2E"/>
                </a:solidFill>
              </a:rPr>
              <a:t>Key visual: Evolutionary tree — horizontal axis: time; vertical axis: fitness F(a).</a:t>
            </a:r>
          </a:p>
          <a:p>
            <a:r>
              <a:rPr sz="1050">
                <a:solidFill>
                  <a:srgbClr val="1A1F2E"/>
                </a:solidFill>
              </a:rPr>
              <a:t>Nodes: a₀ (MLP) → a₁ (1D CNN) → a₂ (Depthwise CNN) → a₃ (MobileNetV2) → a₄ (SOTA+1 ?)</a:t>
            </a:r>
          </a:p>
          <a:p>
            <a:r>
              <a:rPr sz="1050">
                <a:solidFill>
                  <a:srgbClr val="1A1F2E"/>
                </a:solidFill>
              </a:rPr>
              <a:t>Each transition labelled with the architectural delta (what changed) and the performance</a:t>
            </a:r>
          </a:p>
          <a:p>
            <a:r>
              <a:rPr sz="1050">
                <a:solidFill>
                  <a:srgbClr val="1A1F2E"/>
                </a:solidFill>
              </a:rPr>
              <a:t>jump (what it bought).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ETFT formalises this intuition mathematically.</a:t>
            </a:r>
          </a:p>
          <a:p>
            <a:r>
              <a:rPr sz="1050">
                <a:solidFill>
                  <a:srgbClr val="1A1F2E"/>
                </a:solidFill>
              </a:rPr>
              <a:t>Define a fitness function F(a) inversely proportional to validation loss under hard</a:t>
            </a:r>
          </a:p>
          <a:p>
            <a:r>
              <a:rPr sz="1050">
                <a:solidFill>
                  <a:srgbClr val="1A1F2E"/>
                </a:solidFill>
              </a:rPr>
              <a:t>hardware constraints. An Evolutionary Trajectory T = (a₀, a₁, …, aₙ) is an ordered</a:t>
            </a:r>
          </a:p>
          <a:p>
            <a:r>
              <a:rPr sz="1050">
                <a:solidFill>
                  <a:srgbClr val="1A1F2E"/>
                </a:solidFill>
              </a:rPr>
              <a:t>sequence where F(aᵢ₋₁) &lt; F(aᵢ).</a:t>
            </a:r>
          </a:p>
          <a:p>
            <a:r>
              <a:rPr sz="1050">
                <a:solidFill>
                  <a:srgbClr val="1A1F2E"/>
                </a:solidFill>
              </a:rPr>
              <a:t>Each transition aᵢ₋₁ → aᵢ is a macro-evolutionary jump — a discrete gradient step</a:t>
            </a:r>
          </a:p>
          <a:p>
            <a:r>
              <a:rPr sz="1050">
                <a:solidFill>
                  <a:srgbClr val="1A1F2E"/>
                </a:solidFill>
              </a:rPr>
              <a:t>in architectural space. ETFT trains a model on these regressions, teaching it *the</a:t>
            </a:r>
          </a:p>
          <a:p>
            <a:r>
              <a:rPr sz="1050">
                <a:solidFill>
                  <a:srgbClr val="1A1F2E"/>
                </a:solidFill>
              </a:rPr>
              <a:t>mechanics of invention*, not just the outcomes.</a:t>
            </a:r>
          </a:p>
          <a:p>
            <a:r>
              <a:rPr sz="1050">
                <a:solidFill>
                  <a:srgbClr val="1A1F2E"/>
                </a:solidFill>
              </a:rPr>
              <a:t>The model learns not what SOTA is. It learns why SOTA becomes SOTA.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The Regression Pipeline (Figure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Scalable training data — generated autonomously, validated rigorously.</a:t>
            </a:r>
          </a:p>
          <a:p>
            <a:r>
              <a:rPr sz="1050">
                <a:solidFill>
                  <a:srgbClr val="1A1F2E"/>
                </a:solidFill>
              </a:rPr>
              <a:t>Key visual: Reproduction of Figure 1 from ETFT whitepaper.</a:t>
            </a:r>
          </a:p>
          <a:p>
            <a:r>
              <a:rPr sz="1050">
                <a:solidFill>
                  <a:srgbClr val="1A1F2E"/>
                </a:solidFill>
              </a:rPr>
              <a:t>`</a:t>
            </a:r>
          </a:p>
          <a:p>
            <a:r>
              <a:rPr sz="1050">
                <a:solidFill>
                  <a:srgbClr val="1A1F2E"/>
                </a:solidFill>
              </a:rPr>
              <a:t>aₙ (Current SOTA)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1050">
                <a:solidFill>
                  <a:srgbClr val="1A1F2E"/>
                </a:solidFill>
              </a:rPr>
              <a:t>AI Regression Agent (De-optimization)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1050">
                <a:solidFill>
                  <a:srgbClr val="1A1F2E"/>
                </a:solidFill>
              </a:rPr>
              <a:t>CI/CD Validation ──── Fail (Syntax/OOM) → discarded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└── Pass (Functional) → aₙ₋₁ (Functional Predecessor)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Extracted Meta-Datasets: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├── D_Gen    (Generative Pairs)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├── D_Rationale (Structural Meta-data)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└── D_Perf   (Performance Metrics)</a:t>
            </a:r>
          </a:p>
          <a:p>
            <a:r>
              <a:rPr sz="1050">
                <a:solidFill>
                  <a:srgbClr val="1A1F2E"/>
                </a:solidFill>
              </a:rPr>
              <a:t>`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The training corpus is generated by an AI Regression Agent that systematically</a:t>
            </a:r>
          </a:p>
          <a:p>
            <a:r>
              <a:rPr sz="1050">
                <a:solidFill>
                  <a:srgbClr val="1A1F2E"/>
                </a:solidFill>
              </a:rPr>
              <a:t>de-optimises SOTA algorithms into their functional predecessors — and records every</a:t>
            </a:r>
          </a:p>
          <a:p>
            <a:r>
              <a:rPr sz="1050">
                <a:solidFill>
                  <a:srgbClr val="1A1F2E"/>
                </a:solidFill>
              </a:rPr>
              <a:t>architectural decision along the way.</a:t>
            </a:r>
          </a:p>
          <a:p>
            <a:r>
              <a:rPr sz="1050">
                <a:solidFill>
                  <a:srgbClr val="1A1F2E"/>
                </a:solidFill>
              </a:rPr>
              <a:t>CI/CD validation ensures every generated predecessor is compilable and runnable.</a:t>
            </a:r>
          </a:p>
          <a:p>
            <a:r>
              <a:rPr sz="1050">
                <a:solidFill>
                  <a:srgbClr val="1A1F2E"/>
                </a:solidFill>
              </a:rPr>
              <a:t>The result: a self-growing, high-fidelity dataset of the evolutionary history of algorithms —</a:t>
            </a:r>
          </a:p>
          <a:p>
            <a:r>
              <a:rPr sz="1050">
                <a:solidFill>
                  <a:srgbClr val="1A1F2E"/>
                </a:solidFill>
              </a:rPr>
              <a:t>produced at scale, without human labelling.</a:t>
            </a:r>
          </a:p>
          <a:p>
            <a:r>
              <a:rPr sz="1050">
                <a:solidFill>
                  <a:srgbClr val="1A1F2E"/>
                </a:solidFill>
              </a:rPr>
              <a:t>D_Perf trains the Probabilistic Heuristic Filter — an in-silico triage that screens</a:t>
            </a:r>
          </a:p>
          <a:p>
            <a:r>
              <a:rPr sz="1050">
                <a:solidFill>
                  <a:srgbClr val="1A1F2E"/>
                </a:solidFill>
              </a:rPr>
              <a:t>out OOM-risk candidates before expensive GPU runs. Crucially, failed candidates</a:t>
            </a:r>
          </a:p>
          <a:p>
            <a:r>
              <a:rPr sz="1050">
                <a:solidFill>
                  <a:srgbClr val="1A1F2E"/>
                </a:solidFill>
              </a:rPr>
              <a:t>continuously enrich the negative training set, making the filter progressively sharper.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Pareto Delta Analysis: Finding the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Not all code is created equal. ETFT finds the 20% that drives 80% of progress.</a:t>
            </a:r>
          </a:p>
          <a:p>
            <a:r>
              <a:rPr sz="1050">
                <a:solidFill>
                  <a:srgbClr val="1A1F2E"/>
                </a:solidFill>
              </a:rPr>
              <a:t>Key visual: Pareto bar chart — horizontal: architectural components (attention head,</a:t>
            </a:r>
          </a:p>
          <a:p>
            <a:r>
              <a:rPr sz="1050">
                <a:solidFill>
                  <a:srgbClr val="1A1F2E"/>
                </a:solidFill>
              </a:rPr>
              <a:t>normalization layer, activation function, quantization scheme…); vertical: contribution to</a:t>
            </a:r>
          </a:p>
          <a:p>
            <a:r>
              <a:rPr sz="1050">
                <a:solidFill>
                  <a:srgbClr val="1A1F2E"/>
                </a:solidFill>
              </a:rPr>
              <a:t>performance delta (aₙ₋₁ → aₙ). 80/20 cut-off line drawn.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Rather than real-time computational profiling (expensive, error-prone), ETFT performs</a:t>
            </a:r>
          </a:p>
          <a:p>
            <a:r>
              <a:rPr sz="1050">
                <a:solidFill>
                  <a:srgbClr val="1A1F2E"/>
                </a:solidFill>
              </a:rPr>
              <a:t>a deterministic retrospective analysis of historical deltas.</a:t>
            </a:r>
          </a:p>
          <a:p>
            <a:r>
              <a:rPr sz="1050">
                <a:solidFill>
                  <a:srgbClr val="1A1F2E"/>
                </a:solidFill>
              </a:rPr>
              <a:t>By comparing aₙ₋₁ vs aₙ across the entire evolutionary history, the system quantifies:</a:t>
            </a:r>
          </a:p>
          <a:p>
            <a:r>
              <a:rPr sz="1050">
                <a:solidFill>
                  <a:srgbClr val="1A1F2E"/>
                </a:solidFill>
              </a:rPr>
              <a:t>  •  Which sub-components were modified in winning transitions?</a:t>
            </a:r>
          </a:p>
          <a:p>
            <a:r>
              <a:rPr sz="1050">
                <a:solidFill>
                  <a:srgbClr val="1A1F2E"/>
                </a:solidFill>
              </a:rPr>
              <a:t>  •  What magnitude of change drove the largest performance jumps?</a:t>
            </a:r>
          </a:p>
          <a:p>
            <a:r>
              <a:rPr sz="1050">
                <a:solidFill>
                  <a:srgbClr val="1A1F2E"/>
                </a:solidFill>
              </a:rPr>
              <a:t>The model learns to recognise the structural signatures of high-yield innovation —</a:t>
            </a:r>
          </a:p>
          <a:p>
            <a:r>
              <a:rPr sz="1050">
                <a:solidFill>
                  <a:srgbClr val="1A1F2E"/>
                </a:solidFill>
              </a:rPr>
              <a:t>then projects that learned 80/20 lens onto the forward trajectory aₙ → aₙ₊₁.</a:t>
            </a:r>
          </a:p>
          <a:p>
            <a:r>
              <a:rPr sz="1050">
                <a:solidFill>
                  <a:srgbClr val="1A1F2E"/>
                </a:solidFill>
              </a:rPr>
              <a:t>This is not heuristic. It is a deterministic, data-driven bottleneck oracle.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The Open-Loop Architecture (Figure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A continuously self-improving R&amp;D pipeline — running 24/7.</a:t>
            </a:r>
          </a:p>
          <a:p>
            <a:r>
              <a:rPr sz="1050">
                <a:solidFill>
                  <a:srgbClr val="1A1F2E"/>
                </a:solidFill>
              </a:rPr>
              <a:t>Key visual: Reproduction of Figure 2 from ETFT whitepaper — the full Open-Loop</a:t>
            </a:r>
          </a:p>
          <a:p>
            <a:r>
              <a:rPr sz="1050">
                <a:solidFill>
                  <a:srgbClr val="1A1F2E"/>
                </a:solidFill>
              </a:rPr>
              <a:t>Empirical Ecosystem diagram with highlighted feedback loops.</a:t>
            </a:r>
          </a:p>
          <a:p>
            <a:r>
              <a:rPr sz="1050">
                <a:solidFill>
                  <a:srgbClr val="1A1F2E"/>
                </a:solidFill>
              </a:rPr>
              <a:t>`</a:t>
            </a:r>
          </a:p>
          <a:p>
            <a:r>
              <a:rPr sz="1050">
                <a:solidFill>
                  <a:srgbClr val="1A1F2E"/>
                </a:solidFill>
              </a:rPr>
              <a:t>Current SOTA (aₙ)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1050">
                <a:solidFill>
                  <a:srgbClr val="1A1F2E"/>
                </a:solidFill>
              </a:rPr>
              <a:t>Retrospective 80/20 Delta Analysis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1050">
                <a:solidFill>
                  <a:srgbClr val="1A1F2E"/>
                </a:solidFill>
              </a:rPr>
              <a:t>Formulate Research Questions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├──────────────────────────────┐</a:t>
            </a:r>
          </a:p>
          <a:p>
            <a:r>
              <a:rPr sz="1050">
                <a:solidFill>
                  <a:srgbClr val="1A1F2E"/>
                </a:solidFill>
              </a:rPr>
              <a:t>Literature Agents               Empirical Agents</a:t>
            </a:r>
          </a:p>
          <a:p>
            <a:r>
              <a:rPr sz="1050">
                <a:solidFill>
                  <a:srgbClr val="1A1F2E"/>
                </a:solidFill>
              </a:rPr>
              <a:t>(Agentic RAG)                   (Micro-Experiments)</a:t>
            </a:r>
          </a:p>
          <a:p>
            <a:r>
              <a:rPr sz="1050">
                <a:solidFill>
                  <a:srgbClr val="1A1F2E"/>
                </a:solidFill>
              </a:rPr>
              <a:t>Papers/Data ───────────────► Empirical Metrics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└──────────────────────────────┘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Augmented SOTA+1 Synthesis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Probabilistic Filter (D_Perf Triage)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├── Pass (Viable) → Physical GPU Deployment ✓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└── Fail (High-Value Error)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│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Organic Negative Data</a:t>
            </a:r>
          </a:p>
          <a:p>
            <a:r>
              <a:rPr sz="800">
                <a:solidFill>
                  <a:srgbClr val="C9D1D9"/>
                </a:solidFill>
                <a:latin typeface="Courier New"/>
              </a:rPr>
              <a:t>└── In-Context RL Feedback → back to Empirical Agents</a:t>
            </a:r>
          </a:p>
          <a:p>
            <a:r>
              <a:rPr sz="1050">
                <a:solidFill>
                  <a:srgbClr val="1A1F2E"/>
                </a:solidFill>
              </a:rPr>
              <a:t>`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Once the 80/20 bottleneck is identified, two autonomous agent classes deploy in parallel:</a:t>
            </a:r>
          </a:p>
          <a:p>
            <a:r>
              <a:rPr sz="1050">
                <a:solidFill>
                  <a:srgbClr val="1A1F2E"/>
                </a:solidFill>
              </a:rPr>
              <a:t>1. Literature Agents (Agentic RAG): Scour arXiv and technical databases in real time —</a:t>
            </a:r>
          </a:p>
          <a:p>
            <a:r>
              <a:rPr sz="1050">
                <a:solidFill>
                  <a:srgbClr val="1A1F2E"/>
                </a:solidFill>
              </a:rPr>
              <a:t>retrieving knowledge published after the model's training cutoff. Parametric blindspot</a:t>
            </a:r>
          </a:p>
          <a:p>
            <a:r>
              <a:rPr sz="1050">
                <a:solidFill>
                  <a:srgbClr val="1A1F2E"/>
                </a:solidFill>
              </a:rPr>
              <a:t>eliminated.</a:t>
            </a:r>
          </a:p>
          <a:p>
            <a:r>
              <a:rPr sz="1050">
                <a:solidFill>
                  <a:srgbClr val="1A1F2E"/>
                </a:solidFill>
              </a:rPr>
              <a:t>2. Empirical Agents: Execute micro-experiments. Physical metrics flow back as RL reward</a:t>
            </a:r>
          </a:p>
          <a:p>
            <a:r>
              <a:rPr sz="1050">
                <a:solidFill>
                  <a:srgbClr val="1A1F2E"/>
                </a:solidFill>
              </a:rPr>
              <a:t>signals. Failed experiments are not discarded — they become the highest-quality</a:t>
            </a:r>
          </a:p>
          <a:p>
            <a:r>
              <a:rPr sz="1050">
                <a:solidFill>
                  <a:srgbClr val="1A1F2E"/>
                </a:solidFill>
              </a:rPr>
              <a:t>negative training examples the system can produce.</a:t>
            </a:r>
          </a:p>
          <a:p>
            <a:r>
              <a:rPr sz="1050">
                <a:solidFill>
                  <a:srgbClr val="1A1F2E"/>
                </a:solidFill>
              </a:rPr>
              <a:t>The loop is self-hardening. Every failure makes the next hypothesis smarter.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ETFT vs. the field — a structural difference, not a feature difference.</a:t>
            </a:r>
          </a:p>
          <a:p>
            <a:r>
              <a:rPr sz="900">
                <a:solidFill>
                  <a:srgbClr val="2D3748"/>
                </a:solidFill>
              </a:rPr>
              <a:t>Capability  ·  Sakana AI  ·  AutoScience (DeepMind)  ·  ETFT (AutoScientist)</a:t>
            </a:r>
          </a:p>
          <a:p>
            <a:r>
              <a:rPr sz="900">
                <a:solidFill>
                  <a:srgbClr val="2D3748"/>
                </a:solidFill>
              </a:rPr>
              <a:t>Autonomous hypothesis generation  ·  ✓  ·  ✓  ·  ✓</a:t>
            </a:r>
          </a:p>
          <a:p>
            <a:r>
              <a:rPr sz="900">
                <a:solidFill>
                  <a:srgbClr val="2D3748"/>
                </a:solidFill>
              </a:rPr>
              <a:t>Knowledge cutoff bypass (live RAG)  ·  ✗  ·  Partial  ·  ✓ Structural</a:t>
            </a:r>
          </a:p>
          <a:p>
            <a:r>
              <a:rPr sz="900">
                <a:solidFill>
                  <a:srgbClr val="2D3748"/>
                </a:solidFill>
              </a:rPr>
              <a:t>Recursive negative data flywheel  ·  ✗  ·  ✗  ·  ✓ Native</a:t>
            </a:r>
          </a:p>
          <a:p>
            <a:r>
              <a:rPr sz="900">
                <a:solidFill>
                  <a:srgbClr val="2D3748"/>
                </a:solidFill>
              </a:rPr>
              <a:t>Probabilistic OOM triage (D_Perf)  ·  ✗  ·  ✗  ·  ✓</a:t>
            </a:r>
          </a:p>
          <a:p>
            <a:r>
              <a:rPr sz="900">
                <a:solidFill>
                  <a:srgbClr val="2D3748"/>
                </a:solidFill>
              </a:rPr>
              <a:t>Domain-agnostic (beyond DL code)  ·  ✗  ·  ✗  ·  ✓ By design</a:t>
            </a:r>
          </a:p>
          <a:p>
            <a:r>
              <a:rPr sz="900">
                <a:solidFill>
                  <a:srgbClr val="2D3748"/>
                </a:solidFill>
              </a:rPr>
              <a:t>GPU-Poor validated PoC  ·  ✗  ·  ✗  ·  ✓ (April 2026)</a:t>
            </a:r>
          </a:p>
          <a:p>
            <a:r>
              <a:rPr sz="900">
                <a:solidFill>
                  <a:srgbClr val="2D3748"/>
                </a:solidFill>
              </a:rPr>
              <a:t>Proven Pareto bottleneck oracle  ·  ✗  ·  ✗  ·  ✓</a:t>
            </a:r>
          </a:p>
          <a:p>
            <a:r>
              <a:rPr sz="1050">
                <a:solidFill>
                  <a:srgbClr val="1A1F2E"/>
                </a:solidFill>
              </a:rPr>
              <a:t>Key differentiator:</a:t>
            </a:r>
          </a:p>
          <a:p>
            <a:r>
              <a:rPr sz="1050">
                <a:solidFill>
                  <a:srgbClr val="1A1F2E"/>
                </a:solidFill>
              </a:rPr>
              <a:t>Sakana AI and AutoScience automate search in hypothesis space. ETFT automates the</a:t>
            </a:r>
          </a:p>
          <a:p>
            <a:r>
              <a:rPr sz="1050">
                <a:solidFill>
                  <a:srgbClr val="1A1F2E"/>
                </a:solidFill>
              </a:rPr>
              <a:t>learning of how to search — a second-order advantage that compounds with every</a:t>
            </a:r>
          </a:p>
          <a:p>
            <a:r>
              <a:rPr sz="1050">
                <a:solidFill>
                  <a:srgbClr val="1A1F2E"/>
                </a:solidFill>
              </a:rPr>
              <a:t>experiment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GPU-Poor PoC: Proof It Works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SOTA+1 in TinyML — autonomously discovered in minutes, on a $1,500 GPU.</a:t>
            </a:r>
          </a:p>
          <a:p>
            <a:r>
              <a:rPr sz="1050">
                <a:solidFill>
                  <a:srgbClr val="1A1F2E"/>
                </a:solidFill>
              </a:rPr>
              <a:t>Key visual: Before/after bar chart.</a:t>
            </a:r>
          </a:p>
          <a:p>
            <a:r>
              <a:rPr sz="900">
                <a:solidFill>
                  <a:srgbClr val="2D3748"/>
                </a:solidFill>
              </a:rPr>
              <a:t>Metric  ·  Human-designed SOTA (a₃)  ·  ETFT SOTA+1 (a₄)</a:t>
            </a:r>
          </a:p>
          <a:p>
            <a:r>
              <a:rPr sz="900">
                <a:solidFill>
                  <a:srgbClr val="2D3748"/>
                </a:solidFill>
              </a:rPr>
              <a:t>Accuracy  ·  93.0%  ·  94.2%</a:t>
            </a:r>
          </a:p>
          <a:p>
            <a:r>
              <a:rPr sz="900">
                <a:solidFill>
                  <a:srgbClr val="2D3748"/>
                </a:solidFill>
              </a:rPr>
              <a:t>Peak RAM  ·  18 KB  ·  11 KB</a:t>
            </a:r>
          </a:p>
          <a:p>
            <a:r>
              <a:rPr sz="900">
                <a:solidFill>
                  <a:srgbClr val="2D3748"/>
                </a:solidFill>
              </a:rPr>
              <a:t>Discovery method  ·  Human researcher, months  ·  Autonomous agent, minutes</a:t>
            </a:r>
          </a:p>
          <a:p>
            <a:r>
              <a:rPr sz="900">
                <a:solidFill>
                  <a:srgbClr val="2D3748"/>
                </a:solidFill>
              </a:rPr>
              <a:t>Compute required  ·  H100 cluster  ·  Consumer RTX 4090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The "GPU-Poor" PoC deliberately avoids large-scale compute to prove the *cognitive</a:t>
            </a:r>
          </a:p>
          <a:p>
            <a:r>
              <a:rPr sz="1050">
                <a:solidFill>
                  <a:srgbClr val="1A1F2E"/>
                </a:solidFill>
              </a:rPr>
              <a:t>architecture* works independently of hardware:</a:t>
            </a:r>
          </a:p>
          <a:p>
            <a:r>
              <a:rPr sz="1050">
                <a:solidFill>
                  <a:srgbClr val="1A1F2E"/>
                </a:solidFill>
              </a:rPr>
              <a:t>  •  Evolutionary trajectory (MLP → MobileNetV2) injected into context</a:t>
            </a:r>
          </a:p>
          <a:p>
            <a:r>
              <a:rPr sz="1050">
                <a:solidFill>
                  <a:srgbClr val="1A1F2E"/>
                </a:solidFill>
              </a:rPr>
              <a:t>  •  Agent issued Pareto analysis, literature retrieval, and synthesis directives</a:t>
            </a:r>
          </a:p>
          <a:p>
            <a:r>
              <a:rPr sz="1050">
                <a:solidFill>
                  <a:srgbClr val="1A1F2E"/>
                </a:solidFill>
              </a:rPr>
              <a:t>  •  By iteration 3 the agent stabilised a 1D State Space Model (Mamba-style)</a:t>
            </a:r>
          </a:p>
          <a:p>
            <a:r>
              <a:rPr sz="1050">
                <a:solidFill>
                  <a:srgbClr val="1A1F2E"/>
                </a:solidFill>
              </a:rPr>
              <a:t>discovered from post-cutoff literature — surpassing every human-designed baseline</a:t>
            </a:r>
          </a:p>
          <a:p>
            <a:r>
              <a:rPr sz="1050">
                <a:solidFill>
                  <a:srgbClr val="1A1F2E"/>
                </a:solidFill>
              </a:rPr>
              <a:t>The PoC is reproducible on a free Google Colab instance.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From Deep Learning to General Innovation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The same engine that invents neural architectures can evolve anything.</a:t>
            </a:r>
          </a:p>
          <a:p>
            <a:r>
              <a:rPr sz="1050">
                <a:solidFill>
                  <a:srgbClr val="1A1F2E"/>
                </a:solidFill>
              </a:rPr>
              <a:t>Key visual: Hierarchy pyramid — three tiers:</a:t>
            </a:r>
          </a:p>
          <a:p>
            <a:r>
              <a:rPr sz="1050">
                <a:solidFill>
                  <a:srgbClr val="1A1F2E"/>
                </a:solidFill>
              </a:rPr>
              <a:t>  •  Tier 1 (base): Code &amp; algorithm optimisation (validated PoC)</a:t>
            </a:r>
          </a:p>
          <a:p>
            <a:r>
              <a:rPr sz="1050">
                <a:solidFill>
                  <a:srgbClr val="1A1F2E"/>
                </a:solidFill>
              </a:rPr>
              <a:t>  •  Tier 2 (middle): Scientific blueprints &amp; foundational papers (Second-Order Innovation)</a:t>
            </a:r>
          </a:p>
          <a:p>
            <a:r>
              <a:rPr sz="1050">
                <a:solidFill>
                  <a:srgbClr val="1A1F2E"/>
                </a:solidFill>
              </a:rPr>
              <a:t>  •  Tier 3 (apex): Organisational structures, societal systems (Meta-Evolution)</a:t>
            </a:r>
          </a:p>
          <a:p>
            <a:r>
              <a:rPr sz="1050">
                <a:solidFill>
                  <a:srgbClr val="1A1F2E"/>
                </a:solidFill>
              </a:rPr>
              <a:t>Body copy:</a:t>
            </a:r>
          </a:p>
          <a:p>
            <a:r>
              <a:rPr sz="1050">
                <a:solidFill>
                  <a:srgbClr val="1A1F2E"/>
                </a:solidFill>
              </a:rPr>
              <a:t>An algorithm is any ordered sequence of instructions designed to solve a problem.</a:t>
            </a:r>
          </a:p>
          <a:p>
            <a:r>
              <a:rPr sz="1050">
                <a:solidFill>
                  <a:srgbClr val="1A1F2E"/>
                </a:solidFill>
              </a:rPr>
              <a:t>A pharmaceutical synthesis protocol is an algorithm. A clinical trial design is an algorithm.</a:t>
            </a:r>
          </a:p>
          <a:p>
            <a:r>
              <a:rPr sz="1050">
                <a:solidFill>
                  <a:srgbClr val="1A1F2E"/>
                </a:solidFill>
              </a:rPr>
              <a:t>A global supply chain is an algorithm. An organisation is a macro-algorithm.</a:t>
            </a:r>
          </a:p>
          <a:p>
            <a:r>
              <a:rPr sz="1050">
                <a:solidFill>
                  <a:srgbClr val="1A1F2E"/>
                </a:solidFill>
              </a:rPr>
              <a:t>Once ETFT can map evolutionary trajectories in one domain, the framework transfers.</a:t>
            </a:r>
          </a:p>
          <a:p>
            <a:r>
              <a:rPr sz="1050">
                <a:solidFill>
                  <a:srgbClr val="1A1F2E"/>
                </a:solidFill>
              </a:rPr>
              <a:t>The General Innovation Accelerator does not compete with domain experts —</a:t>
            </a:r>
          </a:p>
          <a:p>
            <a:r>
              <a:rPr sz="1050">
                <a:solidFill>
                  <a:srgbClr val="1A1F2E"/>
                </a:solidFill>
              </a:rPr>
              <a:t>it gives them the autonomous research scientist they never had.</a:t>
            </a:r>
          </a:p>
          <a:p>
            <a:r>
              <a:rPr sz="1050">
                <a:solidFill>
                  <a:srgbClr val="1A1F2E"/>
                </a:solidFill>
              </a:rPr>
              <a:t>Expanding the objective function to encode human wellbeing as the reward signal</a:t>
            </a:r>
          </a:p>
          <a:p>
            <a:r>
              <a:rPr sz="1050">
                <a:solidFill>
                  <a:srgbClr val="1A1F2E"/>
                </a:solidFill>
              </a:rPr>
              <a:t>opens targets no purely capital-efficiency model can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3157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1570"/>
            <a:ext cx="9144000" cy="41148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1435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3B6BFF"/>
                </a:solidFill>
              </a:rPr>
              <a:t>ETFT · AutoScientist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1435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94A6"/>
                </a:solidFill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8609"/>
            <a:ext cx="8595359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FFFF"/>
                </a:solidFill>
              </a:rPr>
              <a:t>The Ask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0180"/>
            <a:ext cx="8595359" cy="339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F2E"/>
                </a:solidFill>
              </a:rPr>
              <a:t>Headline: What we need. What you get.</a:t>
            </a:r>
          </a:p>
          <a:p>
            <a:r>
              <a:rPr sz="1050">
                <a:solidFill>
                  <a:srgbClr val="1A1F2E"/>
                </a:solidFill>
              </a:rPr>
              <a:t>Milestone roadmap:</a:t>
            </a:r>
          </a:p>
          <a:p>
            <a:r>
              <a:rPr sz="900">
                <a:solidFill>
                  <a:srgbClr val="2D3748"/>
                </a:solidFill>
              </a:rPr>
              <a:t>Phase  ·  Timeline  ·  Deliverable</a:t>
            </a:r>
          </a:p>
          <a:p>
            <a:r>
              <a:rPr sz="900">
                <a:solidFill>
                  <a:srgbClr val="2D3748"/>
                </a:solidFill>
              </a:rPr>
              <a:t>PoC validated  ·  [DONE] April 2026  ·  TinyML SOTA+1 discovery, reproducible</a:t>
            </a:r>
          </a:p>
          <a:p>
            <a:r>
              <a:rPr sz="900">
                <a:solidFill>
                  <a:srgbClr val="2D3748"/>
                </a:solidFill>
              </a:rPr>
              <a:t>Seed round  ·  Q2 2026  ·  Compute infra, 3-person core team</a:t>
            </a:r>
          </a:p>
          <a:p>
            <a:r>
              <a:rPr sz="900">
                <a:solidFill>
                  <a:srgbClr val="2D3748"/>
                </a:solidFill>
              </a:rPr>
              <a:t>Full DL benchmark  ·  Q3 2026  ·  ETFT applied to ImageNet / LLM architectures</a:t>
            </a:r>
          </a:p>
          <a:p>
            <a:r>
              <a:rPr sz="900">
                <a:solidFill>
                  <a:srgbClr val="2D3748"/>
                </a:solidFill>
              </a:rPr>
              <a:t>Domain expansion  ·  Q4 2026  ·  Pharma / materials science pilot partner</a:t>
            </a:r>
          </a:p>
          <a:p>
            <a:r>
              <a:rPr sz="900">
                <a:solidFill>
                  <a:srgbClr val="2D3748"/>
                </a:solidFill>
              </a:rPr>
              <a:t>Series A readiness  ·  Q1 2027  ·  Revenue pipeline from IP licensing &amp; API access</a:t>
            </a:r>
          </a:p>
          <a:p>
            <a:r>
              <a:rPr sz="1050">
                <a:solidFill>
                  <a:srgbClr val="1A1F2E"/>
                </a:solidFill>
              </a:rPr>
              <a:t>The ask: Seed investment to fund 12 months of compute and engineering.</a:t>
            </a:r>
          </a:p>
          <a:p>
            <a:r>
              <a:rPr sz="1050">
                <a:solidFill>
                  <a:srgbClr val="1A1F2E"/>
                </a:solidFill>
              </a:rPr>
              <a:t>What investors get:</a:t>
            </a:r>
          </a:p>
          <a:p>
            <a:r>
              <a:rPr sz="1050">
                <a:solidFill>
                  <a:srgbClr val="1A1F2E"/>
                </a:solidFill>
              </a:rPr>
              <a:t>  •  Equity in the IP layer of autonomous scientific discovery</a:t>
            </a:r>
          </a:p>
          <a:p>
            <a:r>
              <a:rPr sz="1050">
                <a:solidFill>
                  <a:srgbClr val="1A1F2E"/>
                </a:solidFill>
              </a:rPr>
              <a:t>  •  First access to licensing deals with pharma, semiconductor, and defence R&amp;D organisations</a:t>
            </a:r>
          </a:p>
          <a:p>
            <a:r>
              <a:rPr sz="1050">
                <a:solidFill>
                  <a:srgbClr val="1A1F2E"/>
                </a:solidFill>
              </a:rPr>
              <a:t>  •  A front-row seat to the next Eroom's Law reversal</a:t>
            </a:r>
          </a:p>
          <a:p>
            <a:r>
              <a:rPr sz="1050">
                <a:solidFill>
                  <a:srgbClr val="1A1F2E"/>
                </a:solidFill>
              </a:rPr>
              <a:t>Links: [Demo video — ETFT__AI_Research_Scientist.mp4] · [Full Technical Whitepaper — available under NDA]</a:t>
            </a:r>
          </a:p>
          <a:p>
            <a:r>
              <a:rPr sz="1050">
                <a:solidFill>
                  <a:srgbClr val="1A1F2E"/>
                </a:solidFill>
              </a:rPr>
              <a:t>Contact: Lukas Benda · lukas.benda@boldpivot.cz</a:t>
            </a:r>
          </a:p>
          <a:p>
            <a:r>
              <a:rPr sz="1050">
                <a:solidFill>
                  <a:srgbClr val="1A1F2E"/>
                </a:solidFill>
              </a:rPr>
              <a:t>File B — Strategic Deck | DocSend: download disabled · Dynamic Watermarking: 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17670"/>
            <a:ext cx="9144000" cy="102870"/>
          </a:xfrm>
          <a:prstGeom prst="rect">
            <a:avLst/>
          </a:prstGeom>
          <a:solidFill>
            <a:srgbClr val="3B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5875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74620"/>
            <a:ext cx="8046720" cy="617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8A94A6"/>
                </a:solidFill>
              </a:rPr>
              <a:t>Full technical whitepaper available under NDA upon 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97580"/>
            <a:ext cx="80467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B6BFF"/>
                </a:solidFill>
              </a:rPr>
              <a:t>lukas.benda@boldpivot.cz  ·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