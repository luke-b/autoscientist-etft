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09728"/>
            <a:ext cx="11612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00B4D8"/>
                </a:solidFill>
              </a:rPr>
              <a:t>SLIDE 1 — THE EROOM'S LAW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502920"/>
            <a:ext cx="116128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Science is getting exponentially more expensive — and slower.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325880"/>
            <a:ext cx="11612880" cy="45262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>
                <a:solidFill>
                  <a:srgbClr val="FFFFFF"/>
                </a:solidFill>
              </a:rPr>
              <a:t>(mirror image of Moore's Law). Cross-reference: AI research paper volume doubles every</a:t>
            </a:r>
          </a:p>
          <a:p>
            <a:pPr algn="l"/>
            <a:r>
              <a:rPr sz="1300">
                <a:solidFill>
                  <a:srgbClr val="FFFFFF"/>
                </a:solidFill>
              </a:rPr>
              <a:t>18 months, yet model architectures have converged. More compute, more papers, fewer</a:t>
            </a:r>
          </a:p>
          <a:p>
            <a:pPr algn="l"/>
            <a:r>
              <a:rPr sz="1300">
                <a:solidFill>
                  <a:srgbClr val="FFFFFF"/>
                </a:solidFill>
              </a:rPr>
              <a:t>paradigm shifts.</a:t>
            </a:r>
          </a:p>
          <a:p>
            <a:pPr algn="l">
              <a:spcAft>
                <a:spcPts val="400"/>
              </a:spcAft>
            </a:pPr>
            <a:r>
              <a:rPr sz="1300">
                <a:solidFill>
                  <a:srgbClr val="FFFFFF"/>
                </a:solidFill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1300">
                <a:solidFill>
                  <a:srgbClr val="FFFFFF"/>
                </a:solidFill>
              </a:rPr>
              <a:t/>
            </a:r>
          </a:p>
          <a:p>
            <a:pPr algn="l"/>
            <a:r>
              <a:rPr sz="1300" i="1">
                <a:solidFill>
                  <a:srgbClr val="FFC300"/>
                </a:solidFill>
              </a:rPr>
              <a:t>"The pharma industry spends $2.6 billion per approved drug. The ML community produces"</a:t>
            </a:r>
          </a:p>
          <a:p>
            <a:pPr algn="l"/>
            <a:r>
              <a:rPr sz="1300" i="1">
                <a:solidFill>
                  <a:srgbClr val="FFC300"/>
                </a:solidFill>
              </a:rPr>
              <a:t>"400,000 papers per year but ships three genuinely new architectures per decade."</a:t>
            </a:r>
          </a:p>
          <a:p>
            <a:pPr algn="l"/>
            <a:r>
              <a:rPr sz="1300" i="1">
                <a:solidFill>
                  <a:srgbClr val="FFC300"/>
                </a:solidFill>
              </a:rPr>
              <a:t>"The bottleneck is not compute — it is the human cognitive loop that decides *what to"</a:t>
            </a:r>
          </a:p>
          <a:p>
            <a:pPr algn="l"/>
            <a:r>
              <a:rPr sz="1300" i="1">
                <a:solidFill>
                  <a:srgbClr val="FFC300"/>
                </a:solidFill>
              </a:rPr>
              <a:t>"experiment on next*. Eroom's Law is not an industry anomaly. It is the default trajectory"</a:t>
            </a:r>
          </a:p>
          <a:p>
            <a:pPr algn="l"/>
            <a:r>
              <a:rPr sz="1300" i="1">
                <a:solidFill>
                  <a:srgbClr val="FFC300"/>
                </a:solidFill>
              </a:rPr>
              <a:t>"of any science driven by human intuition."</a:t>
            </a:r>
          </a:p>
          <a:p>
            <a:pPr algn="l">
              <a:spcAft>
                <a:spcPts val="400"/>
              </a:spcAft>
            </a:pPr>
            <a:r>
              <a:rPr sz="1300">
                <a:solidFill>
                  <a:srgbClr val="FFFFFF"/>
                </a:solidFill>
              </a:rPr>
              <a:t/>
            </a:r>
          </a:p>
          <a:p>
            <a:pPr algn="l"/>
            <a:r>
              <a:rPr sz="1300">
                <a:solidFill>
                  <a:srgbClr val="FFFFFF"/>
                </a:solidFill>
              </a:rPr>
              <a:t>Call to action: *What if the scientific method itself could be automated?*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6263640"/>
            <a:ext cx="1161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CCD6E0"/>
                </a:solidFill>
              </a:rPr>
              <a:t>ETFT (AutoScientist) · Lukas Benda · lukas.benda@boldpivot.cz · Confidential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09728"/>
            <a:ext cx="11612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00B4D8"/>
                </a:solidFill>
              </a:rPr>
              <a:t>SLIDE 2 — THE $100B BLINDSPOT IN EVERY LLM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502920"/>
            <a:ext cx="116128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Your AI doesn't know what it doesn't know.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325880"/>
            <a:ext cx="11612880" cy="45262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>
                <a:solidFill>
                  <a:srgbClr val="FFFFFF"/>
                </a:solidFill>
              </a:rPr>
              <a:t>arXiv preprints published after training cutoff (invisible to model).</a:t>
            </a:r>
          </a:p>
          <a:p>
            <a:pPr algn="l">
              <a:spcAft>
                <a:spcPts val="400"/>
              </a:spcAft>
            </a:pPr>
            <a:r>
              <a:rPr sz="1300">
                <a:solidFill>
                  <a:srgbClr val="FFFFFF"/>
                </a:solidFill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1300">
                <a:solidFill>
                  <a:srgbClr val="FFFFFF"/>
                </a:solidFill>
              </a:rPr>
              <a:t/>
            </a:r>
          </a:p>
          <a:p>
            <a:pPr algn="l"/>
            <a:r>
              <a:rPr sz="1300">
                <a:solidFill>
                  <a:srgbClr val="FFFFFF"/>
                </a:solidFill>
              </a:rPr>
              <a:t>Every frontier model — GPT, Claude, Gemini — was trained on data with a hard cutoff.</a:t>
            </a:r>
          </a:p>
          <a:p>
            <a:pPr algn="l"/>
            <a:r>
              <a:rPr sz="1300">
                <a:solidFill>
                  <a:srgbClr val="FFFFFF"/>
                </a:solidFill>
              </a:rPr>
              <a:t>The instant training ends, the model's knowledge begins to decay relative to the frontier.</a:t>
            </a:r>
          </a:p>
          <a:p>
            <a:pPr algn="l">
              <a:spcAft>
                <a:spcPts val="400"/>
              </a:spcAft>
            </a:pPr>
            <a:r>
              <a:rPr sz="1300">
                <a:solidFill>
                  <a:srgbClr val="FFFFFF"/>
                </a:solidFill>
              </a:rPr>
              <a:t/>
            </a:r>
          </a:p>
          <a:p>
            <a:pPr algn="l"/>
            <a:r>
              <a:rPr sz="1300">
                <a:solidFill>
                  <a:srgbClr val="FFFFFF"/>
                </a:solidFill>
              </a:rPr>
              <a:t>This is the Knowledge Blindspot: the gap between what a model believes is SOTA and</a:t>
            </a:r>
          </a:p>
          <a:p>
            <a:pPr algn="l"/>
            <a:r>
              <a:rPr sz="1300">
                <a:solidFill>
                  <a:srgbClr val="FFFFFF"/>
                </a:solidFill>
              </a:rPr>
              <a:t>what actually is SOTA at inference time.</a:t>
            </a:r>
          </a:p>
          <a:p>
            <a:pPr algn="l">
              <a:spcAft>
                <a:spcPts val="400"/>
              </a:spcAft>
            </a:pPr>
            <a:r>
              <a:rPr sz="1300">
                <a:solidFill>
                  <a:srgbClr val="FFFFFF"/>
                </a:solidFill>
              </a:rPr>
              <a:t/>
            </a:r>
          </a:p>
          <a:p>
            <a:pPr algn="l"/>
            <a:r>
              <a:rPr sz="1300">
                <a:solidFill>
                  <a:srgbClr val="FFFFFF"/>
                </a:solidFill>
              </a:rPr>
              <a:t>Current workarounds (RAG, fine-tuning) are reactive patches, not architectural solutions.</a:t>
            </a:r>
          </a:p>
          <a:p>
            <a:pPr algn="l"/>
            <a:r>
              <a:rPr sz="1300">
                <a:solidFill>
                  <a:srgbClr val="FFFFFF"/>
                </a:solidFill>
              </a:rPr>
              <a:t>ETFT eliminates the blindspot structurally.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6263640"/>
            <a:ext cx="1161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CCD6E0"/>
                </a:solidFill>
              </a:rPr>
              <a:t>ETFT (AutoScientist) · Lukas Benda · lukas.benda@boldpivot.cz · Confidential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09728"/>
            <a:ext cx="11612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00B4D8"/>
                </a:solidFill>
              </a:rPr>
              <a:t>SLIDE 3 — INTRODUCING THE DISCRETE GRADIENT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502920"/>
            <a:ext cx="116128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Algorithms don't appear. They evolve.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325880"/>
            <a:ext cx="11612880" cy="45262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>
                <a:solidFill>
                  <a:srgbClr val="FFFFFF"/>
                </a:solidFill>
              </a:rPr>
              <a:t>Nodes: a₀ (MLP) → a₁ (1D CNN) → a₂ (Depthwise CNN) → a₃ (MobileNetV2) → a₄ (SOTA+1 ?)</a:t>
            </a:r>
          </a:p>
          <a:p>
            <a:pPr algn="l">
              <a:spcAft>
                <a:spcPts val="400"/>
              </a:spcAft>
            </a:pPr>
            <a:r>
              <a:rPr sz="1300">
                <a:solidFill>
                  <a:srgbClr val="FFFFFF"/>
                </a:solidFill>
              </a:rPr>
              <a:t/>
            </a:r>
          </a:p>
          <a:p>
            <a:pPr algn="l"/>
            <a:r>
              <a:rPr sz="1300">
                <a:solidFill>
                  <a:srgbClr val="FFFFFF"/>
                </a:solidFill>
              </a:rPr>
              <a:t>Each transition labelled with the architectural delta (what changed) and the performance</a:t>
            </a:r>
          </a:p>
          <a:p>
            <a:pPr algn="l"/>
            <a:r>
              <a:rPr sz="1300">
                <a:solidFill>
                  <a:srgbClr val="FFFFFF"/>
                </a:solidFill>
              </a:rPr>
              <a:t>jump (what it bought).</a:t>
            </a:r>
          </a:p>
          <a:p>
            <a:pPr algn="l">
              <a:spcAft>
                <a:spcPts val="400"/>
              </a:spcAft>
            </a:pPr>
            <a:r>
              <a:rPr sz="1300">
                <a:solidFill>
                  <a:srgbClr val="FFFFFF"/>
                </a:solidFill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1300">
                <a:solidFill>
                  <a:srgbClr val="FFFFFF"/>
                </a:solidFill>
              </a:rPr>
              <a:t/>
            </a:r>
          </a:p>
          <a:p>
            <a:pPr algn="l"/>
            <a:r>
              <a:rPr sz="1300">
                <a:solidFill>
                  <a:srgbClr val="FFFFFF"/>
                </a:solidFill>
              </a:rPr>
              <a:t>ETFT formalises this intuition mathematically.</a:t>
            </a:r>
          </a:p>
          <a:p>
            <a:pPr algn="l">
              <a:spcAft>
                <a:spcPts val="400"/>
              </a:spcAft>
            </a:pPr>
            <a:r>
              <a:rPr sz="1300">
                <a:solidFill>
                  <a:srgbClr val="FFFFFF"/>
                </a:solidFill>
              </a:rPr>
              <a:t/>
            </a:r>
          </a:p>
          <a:p>
            <a:pPr algn="l"/>
            <a:r>
              <a:rPr sz="1300">
                <a:solidFill>
                  <a:srgbClr val="FFFFFF"/>
                </a:solidFill>
              </a:rPr>
              <a:t>Define a fitness function F(a) inversely proportional to validation loss under hard</a:t>
            </a:r>
          </a:p>
          <a:p>
            <a:pPr algn="l"/>
            <a:r>
              <a:rPr sz="1300">
                <a:solidFill>
                  <a:srgbClr val="FFFFFF"/>
                </a:solidFill>
              </a:rPr>
              <a:t>hardware constraints. An Evolutionary Trajectory T = (a₀, a₁, …, aₙ) is an ordered</a:t>
            </a:r>
          </a:p>
          <a:p>
            <a:pPr algn="l"/>
            <a:r>
              <a:rPr sz="1300">
                <a:solidFill>
                  <a:srgbClr val="FFFFFF"/>
                </a:solidFill>
              </a:rPr>
              <a:t>sequence where F(aᵢ₋₁) &lt; F(aᵢ).</a:t>
            </a:r>
          </a:p>
          <a:p>
            <a:pPr algn="l">
              <a:spcAft>
                <a:spcPts val="400"/>
              </a:spcAft>
            </a:pPr>
            <a:r>
              <a:rPr sz="1300">
                <a:solidFill>
                  <a:srgbClr val="FFFFFF"/>
                </a:solidFill>
              </a:rPr>
              <a:t/>
            </a:r>
          </a:p>
          <a:p>
            <a:pPr algn="l"/>
            <a:r>
              <a:rPr sz="1300">
                <a:solidFill>
                  <a:srgbClr val="FFFFFF"/>
                </a:solidFill>
              </a:rPr>
              <a:t>Each transition aᵢ₋₁ → aᵢ is a macro-evolutionary jump — a discrete gradient step</a:t>
            </a:r>
          </a:p>
          <a:p>
            <a:pPr algn="l"/>
            <a:r>
              <a:rPr sz="1300">
                <a:solidFill>
                  <a:srgbClr val="FFFFFF"/>
                </a:solidFill>
              </a:rPr>
              <a:t>in architectural space. ETFT trains a model on these regressions, teaching it *the</a:t>
            </a:r>
          </a:p>
          <a:p>
            <a:pPr algn="l"/>
            <a:r>
              <a:rPr sz="1300">
                <a:solidFill>
                  <a:srgbClr val="FFFFFF"/>
                </a:solidFill>
              </a:rPr>
              <a:t>mechanics of invention*, not just the outcomes.</a:t>
            </a:r>
          </a:p>
          <a:p>
            <a:pPr algn="l">
              <a:spcAft>
                <a:spcPts val="400"/>
              </a:spcAft>
            </a:pPr>
            <a:r>
              <a:rPr sz="1300">
                <a:solidFill>
                  <a:srgbClr val="FFFFFF"/>
                </a:solidFill>
              </a:rPr>
              <a:t/>
            </a:r>
          </a:p>
          <a:p>
            <a:pPr algn="l"/>
            <a:r>
              <a:rPr sz="1300" i="1">
                <a:solidFill>
                  <a:srgbClr val="FFC300"/>
                </a:solidFill>
              </a:rPr>
              <a:t>"The model learns not what SOTA is. It learns *why* SOTA becomes SOTA."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6263640"/>
            <a:ext cx="1161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CCD6E0"/>
                </a:solidFill>
              </a:rPr>
              <a:t>ETFT (AutoScientist) · Lukas Benda · lukas.benda@boldpivot.cz · Confidential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09728"/>
            <a:ext cx="11612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00B4D8"/>
                </a:solidFill>
              </a:rPr>
              <a:t>SLIDE 4 — THE REGRESSION PIPELINE (FIGURE 1)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502920"/>
            <a:ext cx="116128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Scalable training data — generated autonomously, validated rigorously.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325880"/>
            <a:ext cx="11612880" cy="45262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</a:p>
          <a:p>
            <a:pPr algn="l"/>
            <a:r>
              <a:rPr sz="1300">
                <a:solidFill>
                  <a:srgbClr val="FFFFFF"/>
                </a:solidFill>
              </a:rPr>
              <a:t>aₙ (Current SOTA)</a:t>
            </a:r>
          </a:p>
          <a:p>
            <a:pPr algn="l"/>
            <a:r>
              <a:rPr sz="1300">
                <a:solidFill>
                  <a:srgbClr val="FFFFFF"/>
                </a:solidFill>
              </a:rPr>
              <a:t>│</a:t>
            </a:r>
          </a:p>
          <a:p>
            <a:pPr algn="l"/>
            <a:r>
              <a:rPr sz="1300">
                <a:solidFill>
                  <a:srgbClr val="FFFFFF"/>
                </a:solidFill>
              </a:rPr>
              <a:t>AI Regression Agent (De-optimization)</a:t>
            </a:r>
          </a:p>
          <a:p>
            <a:pPr algn="l"/>
            <a:r>
              <a:rPr sz="1300">
                <a:solidFill>
                  <a:srgbClr val="FFFFFF"/>
                </a:solidFill>
              </a:rPr>
              <a:t>│</a:t>
            </a:r>
          </a:p>
          <a:p>
            <a:pPr algn="l"/>
            <a:r>
              <a:rPr sz="1300">
                <a:solidFill>
                  <a:srgbClr val="FFFFFF"/>
                </a:solidFill>
              </a:rPr>
              <a:t>CI/CD Validation ──── Fail (Syntax/OOM) → discarded</a:t>
            </a:r>
          </a:p>
          <a:p>
            <a:pPr algn="l"/>
            <a:r>
              <a:rPr sz="1300">
                <a:solidFill>
                  <a:srgbClr val="FFFFFF"/>
                </a:solidFill>
              </a:rPr>
              <a:t>│</a:t>
            </a:r>
          </a:p>
          <a:p>
            <a:pPr algn="l"/>
            <a:r>
              <a:rPr sz="1300">
                <a:solidFill>
                  <a:srgbClr val="FFFFFF"/>
                </a:solidFill>
              </a:rPr>
              <a:t>└── Pass (Functional) → aₙ₋₁ (Functional Predecessor)</a:t>
            </a:r>
          </a:p>
          <a:p>
            <a:pPr algn="l"/>
            <a:r>
              <a:rPr sz="1300">
                <a:solidFill>
                  <a:srgbClr val="FFFFFF"/>
                </a:solidFill>
              </a:rPr>
              <a:t>│</a:t>
            </a:r>
          </a:p>
          <a:p>
            <a:pPr algn="l"/>
            <a:r>
              <a:rPr sz="1300">
                <a:solidFill>
                  <a:srgbClr val="FFFFFF"/>
                </a:solidFill>
              </a:rPr>
              <a:t>Extracted Meta-Datasets:</a:t>
            </a:r>
          </a:p>
          <a:p>
            <a:pPr algn="l"/>
            <a:r>
              <a:rPr sz="1300">
                <a:solidFill>
                  <a:srgbClr val="FFFFFF"/>
                </a:solidFill>
              </a:rPr>
              <a:t>├── D_Gen    (Generative Pairs)</a:t>
            </a:r>
          </a:p>
          <a:p>
            <a:pPr algn="l"/>
            <a:r>
              <a:rPr sz="1300">
                <a:solidFill>
                  <a:srgbClr val="FFFFFF"/>
                </a:solidFill>
              </a:rPr>
              <a:t>├── D_Rationale (Structural Meta-data)</a:t>
            </a:r>
          </a:p>
          <a:p>
            <a:pPr algn="l"/>
            <a:r>
              <a:rPr sz="1300">
                <a:solidFill>
                  <a:srgbClr val="FFFFFF"/>
                </a:solidFill>
              </a:rPr>
              <a:t>└── D_Perf   (Performance Metrics)</a:t>
            </a:r>
          </a:p>
          <a:p>
            <a:pPr algn="l"/>
          </a:p>
          <a:p>
            <a:pPr algn="l">
              <a:spcAft>
                <a:spcPts val="400"/>
              </a:spcAft>
            </a:pPr>
            <a:r>
              <a:rPr sz="1300">
                <a:solidFill>
                  <a:srgbClr val="FFFFFF"/>
                </a:solidFill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1300">
                <a:solidFill>
                  <a:srgbClr val="FFFFFF"/>
                </a:solidFill>
              </a:rPr>
              <a:t/>
            </a:r>
          </a:p>
          <a:p>
            <a:pPr algn="l"/>
            <a:r>
              <a:rPr sz="1300">
                <a:solidFill>
                  <a:srgbClr val="FFFFFF"/>
                </a:solidFill>
              </a:rPr>
              <a:t>The training corpus is generated by an AI Regression Agent that systematically</a:t>
            </a:r>
          </a:p>
          <a:p>
            <a:pPr algn="l"/>
            <a:r>
              <a:rPr sz="1300">
                <a:solidFill>
                  <a:srgbClr val="FFFFFF"/>
                </a:solidFill>
              </a:rPr>
              <a:t>de-optimises SOTA algorithms into their functional predecessors — and records every</a:t>
            </a:r>
          </a:p>
          <a:p>
            <a:pPr algn="l"/>
            <a:r>
              <a:rPr sz="1300">
                <a:solidFill>
                  <a:srgbClr val="FFFFFF"/>
                </a:solidFill>
              </a:rPr>
              <a:t>architectural decision along the way.</a:t>
            </a:r>
          </a:p>
          <a:p>
            <a:pPr algn="l">
              <a:spcAft>
                <a:spcPts val="400"/>
              </a:spcAft>
            </a:pPr>
            <a:r>
              <a:rPr sz="1300">
                <a:solidFill>
                  <a:srgbClr val="FFFFFF"/>
                </a:solidFill>
              </a:rPr>
              <a:t/>
            </a:r>
          </a:p>
          <a:p>
            <a:pPr algn="l"/>
            <a:r>
              <a:rPr sz="1300">
                <a:solidFill>
                  <a:srgbClr val="FFFFFF"/>
                </a:solidFill>
              </a:rPr>
              <a:t>CI/CD validation ensures every generated predecessor is compilable and runnable.</a:t>
            </a:r>
          </a:p>
          <a:p>
            <a:pPr algn="l"/>
            <a:r>
              <a:rPr sz="1300">
                <a:solidFill>
                  <a:srgbClr val="FFFFFF"/>
                </a:solidFill>
              </a:rPr>
              <a:t>The result: a self-growing, high-fidelity dataset of the evolutionary history of algorithms —</a:t>
            </a:r>
          </a:p>
          <a:p>
            <a:pPr algn="l"/>
            <a:r>
              <a:rPr sz="1300">
                <a:solidFill>
                  <a:srgbClr val="FFFFFF"/>
                </a:solidFill>
              </a:rPr>
              <a:t>produced at scale, without human labelling.</a:t>
            </a:r>
          </a:p>
          <a:p>
            <a:pPr algn="l">
              <a:spcAft>
                <a:spcPts val="400"/>
              </a:spcAft>
            </a:pPr>
            <a:r>
              <a:rPr sz="1300">
                <a:solidFill>
                  <a:srgbClr val="FFFFFF"/>
                </a:solidFill>
              </a:rPr>
              <a:t/>
            </a:r>
          </a:p>
          <a:p>
            <a:pPr algn="l"/>
            <a:r>
              <a:rPr sz="1300">
                <a:solidFill>
                  <a:srgbClr val="FFFFFF"/>
                </a:solidFill>
              </a:rPr>
              <a:t>D_Perf trains the Probabilistic Heuristic Filter — an in-silico triage that screens</a:t>
            </a:r>
          </a:p>
          <a:p>
            <a:pPr algn="l"/>
            <a:r>
              <a:rPr sz="1300">
                <a:solidFill>
                  <a:srgbClr val="FFFFFF"/>
                </a:solidFill>
              </a:rPr>
              <a:t>out OOM-risk candidates before expensive GPU runs. Crucially, *failed* candidates</a:t>
            </a:r>
          </a:p>
          <a:p>
            <a:pPr algn="l"/>
            <a:r>
              <a:rPr sz="1300">
                <a:solidFill>
                  <a:srgbClr val="FFFFFF"/>
                </a:solidFill>
              </a:rPr>
              <a:t>continuously enrich the negative training set, making the filter progressively sharper.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6263640"/>
            <a:ext cx="1161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CCD6E0"/>
                </a:solidFill>
              </a:rPr>
              <a:t>ETFT (AutoScientist) · Lukas Benda · lukas.benda@boldpivot.cz · Confidential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09728"/>
            <a:ext cx="11612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00B4D8"/>
                </a:solidFill>
              </a:rPr>
              <a:t>SLIDE 5 — PARETO DELTA ANALYSIS: FINDING THE 20%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502920"/>
            <a:ext cx="116128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Not all code is created equal. ETFT finds the 20% that drives 80% of progress.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325880"/>
            <a:ext cx="11612880" cy="45262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>
                <a:solidFill>
                  <a:srgbClr val="FFFFFF"/>
                </a:solidFill>
              </a:rPr>
              <a:t>normalization layer, activation function, quantization scheme…); vertical: contribution to</a:t>
            </a:r>
          </a:p>
          <a:p>
            <a:pPr algn="l"/>
            <a:r>
              <a:rPr sz="1300">
                <a:solidFill>
                  <a:srgbClr val="FFFFFF"/>
                </a:solidFill>
              </a:rPr>
              <a:t>performance delta (aₙ₋₁ → aₙ). 80/20 cut-off line drawn.</a:t>
            </a:r>
          </a:p>
          <a:p>
            <a:pPr algn="l">
              <a:spcAft>
                <a:spcPts val="400"/>
              </a:spcAft>
            </a:pPr>
            <a:r>
              <a:rPr sz="1300">
                <a:solidFill>
                  <a:srgbClr val="FFFFFF"/>
                </a:solidFill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1300">
                <a:solidFill>
                  <a:srgbClr val="FFFFFF"/>
                </a:solidFill>
              </a:rPr>
              <a:t/>
            </a:r>
          </a:p>
          <a:p>
            <a:pPr algn="l"/>
            <a:r>
              <a:rPr sz="1300">
                <a:solidFill>
                  <a:srgbClr val="FFFFFF"/>
                </a:solidFill>
              </a:rPr>
              <a:t>Rather than real-time computational profiling (expensive, error-prone), ETFT performs</a:t>
            </a:r>
          </a:p>
          <a:p>
            <a:pPr algn="l"/>
            <a:r>
              <a:rPr sz="1300">
                <a:solidFill>
                  <a:srgbClr val="FFFFFF"/>
                </a:solidFill>
              </a:rPr>
              <a:t>a deterministic retrospective analysis of historical deltas.</a:t>
            </a:r>
          </a:p>
          <a:p>
            <a:pPr algn="l">
              <a:spcAft>
                <a:spcPts val="400"/>
              </a:spcAft>
            </a:pPr>
            <a:r>
              <a:rPr sz="1300">
                <a:solidFill>
                  <a:srgbClr val="FFFFFF"/>
                </a:solidFill>
              </a:rPr>
              <a:t/>
            </a:r>
          </a:p>
          <a:p>
            <a:pPr algn="l"/>
            <a:r>
              <a:rPr sz="1300">
                <a:solidFill>
                  <a:srgbClr val="FFFFFF"/>
                </a:solidFill>
              </a:rPr>
              <a:t>By comparing aₙ₋₁ vs aₙ across the entire evolutionary history, the system quantifies:</a:t>
            </a:r>
          </a:p>
          <a:p>
            <a:pPr algn="l" lvl="1"/>
            <a:r>
              <a:rPr sz="1200">
                <a:solidFill>
                  <a:srgbClr val="CCD6E0"/>
                </a:solidFill>
              </a:rPr>
              <a:t>• Which sub-components were modified in winning transitions?</a:t>
            </a:r>
          </a:p>
          <a:p>
            <a:pPr algn="l" lvl="1"/>
            <a:r>
              <a:rPr sz="1200">
                <a:solidFill>
                  <a:srgbClr val="CCD6E0"/>
                </a:solidFill>
              </a:rPr>
              <a:t>• What magnitude of change drove the largest performance jumps?</a:t>
            </a:r>
          </a:p>
          <a:p>
            <a:pPr algn="l">
              <a:spcAft>
                <a:spcPts val="400"/>
              </a:spcAft>
            </a:pPr>
            <a:r>
              <a:rPr sz="1300">
                <a:solidFill>
                  <a:srgbClr val="FFFFFF"/>
                </a:solidFill>
              </a:rPr>
              <a:t/>
            </a:r>
          </a:p>
          <a:p>
            <a:pPr algn="l"/>
            <a:r>
              <a:rPr sz="1300">
                <a:solidFill>
                  <a:srgbClr val="FFFFFF"/>
                </a:solidFill>
              </a:rPr>
              <a:t>The model learns to recognise the structural signatures of high-yield innovation —</a:t>
            </a:r>
          </a:p>
          <a:p>
            <a:pPr algn="l"/>
            <a:r>
              <a:rPr sz="1300">
                <a:solidFill>
                  <a:srgbClr val="FFFFFF"/>
                </a:solidFill>
              </a:rPr>
              <a:t>then projects that learned 80/20 lens onto the forward trajectory aₙ → aₙ₊₁.</a:t>
            </a:r>
          </a:p>
          <a:p>
            <a:pPr algn="l">
              <a:spcAft>
                <a:spcPts val="400"/>
              </a:spcAft>
            </a:pPr>
            <a:r>
              <a:rPr sz="1300">
                <a:solidFill>
                  <a:srgbClr val="FFFFFF"/>
                </a:solidFill>
              </a:rPr>
              <a:t/>
            </a:r>
          </a:p>
          <a:p>
            <a:pPr algn="l"/>
            <a:r>
              <a:rPr sz="1300">
                <a:solidFill>
                  <a:srgbClr val="FFFFFF"/>
                </a:solidFill>
              </a:rPr>
              <a:t>This is not heuristic. It is a deterministic, data-driven bottleneck oracle.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6263640"/>
            <a:ext cx="1161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CCD6E0"/>
                </a:solidFill>
              </a:rPr>
              <a:t>ETFT (AutoScientist) · Lukas Benda · lukas.benda@boldpivot.cz · Confidential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09728"/>
            <a:ext cx="11612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00B4D8"/>
                </a:solidFill>
              </a:rPr>
              <a:t>SLIDE 6 — THE OPEN-LOOP ARCHITECTURE (FIGURE 2)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502920"/>
            <a:ext cx="116128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A continuously self-improving R&amp;D pipeline — running 24/7.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325880"/>
            <a:ext cx="11612880" cy="45262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>
                <a:solidFill>
                  <a:srgbClr val="FFFFFF"/>
                </a:solidFill>
              </a:rPr>
              <a:t>Empirical Ecosystem diagram with highlighted feedback loops.</a:t>
            </a:r>
          </a:p>
          <a:p>
            <a:pPr algn="l">
              <a:spcAft>
                <a:spcPts val="400"/>
              </a:spcAft>
            </a:pPr>
            <a:r>
              <a:rPr sz="1300">
                <a:solidFill>
                  <a:srgbClr val="FFFFFF"/>
                </a:solidFill>
              </a:rPr>
              <a:t/>
            </a:r>
          </a:p>
          <a:p>
            <a:pPr algn="l"/>
          </a:p>
          <a:p>
            <a:pPr algn="l"/>
            <a:r>
              <a:rPr sz="1300">
                <a:solidFill>
                  <a:srgbClr val="FFFFFF"/>
                </a:solidFill>
              </a:rPr>
              <a:t>Current SOTA (aₙ)</a:t>
            </a:r>
          </a:p>
          <a:p>
            <a:pPr algn="l"/>
            <a:r>
              <a:rPr sz="1300">
                <a:solidFill>
                  <a:srgbClr val="FFFFFF"/>
                </a:solidFill>
              </a:rPr>
              <a:t>│</a:t>
            </a:r>
          </a:p>
          <a:p>
            <a:pPr algn="l"/>
            <a:r>
              <a:rPr sz="1300">
                <a:solidFill>
                  <a:srgbClr val="FFFFFF"/>
                </a:solidFill>
              </a:rPr>
              <a:t>Retrospective 80/20 Delta Analysis</a:t>
            </a:r>
          </a:p>
          <a:p>
            <a:pPr algn="l"/>
            <a:r>
              <a:rPr sz="1300">
                <a:solidFill>
                  <a:srgbClr val="FFFFFF"/>
                </a:solidFill>
              </a:rPr>
              <a:t>│</a:t>
            </a:r>
          </a:p>
          <a:p>
            <a:pPr algn="l"/>
            <a:r>
              <a:rPr sz="1300">
                <a:solidFill>
                  <a:srgbClr val="FFFFFF"/>
                </a:solidFill>
              </a:rPr>
              <a:t>Formulate Research Questions</a:t>
            </a:r>
          </a:p>
          <a:p>
            <a:pPr algn="l"/>
            <a:r>
              <a:rPr sz="1300">
                <a:solidFill>
                  <a:srgbClr val="FFFFFF"/>
                </a:solidFill>
              </a:rPr>
              <a:t>├──────────────────────────────┐</a:t>
            </a:r>
          </a:p>
          <a:p>
            <a:pPr algn="l"/>
            <a:r>
              <a:rPr sz="1300">
                <a:solidFill>
                  <a:srgbClr val="FFFFFF"/>
                </a:solidFill>
              </a:rPr>
              <a:t>Literature Agents               Empirical Agents</a:t>
            </a:r>
          </a:p>
          <a:p>
            <a:pPr algn="l"/>
            <a:r>
              <a:rPr sz="1300">
                <a:solidFill>
                  <a:srgbClr val="FFFFFF"/>
                </a:solidFill>
              </a:rPr>
              <a:t>(Agentic RAG)                   (Micro-Experiments)</a:t>
            </a:r>
          </a:p>
          <a:p>
            <a:pPr algn="l"/>
            <a:r>
              <a:rPr sz="1300">
                <a:solidFill>
                  <a:srgbClr val="FFFFFF"/>
                </a:solidFill>
              </a:rPr>
              <a:t>Papers/Data ───────────────► Empirical Metrics</a:t>
            </a:r>
          </a:p>
          <a:p>
            <a:pPr algn="l"/>
            <a:r>
              <a:rPr sz="1300">
                <a:solidFill>
                  <a:srgbClr val="FFFFFF"/>
                </a:solidFill>
              </a:rPr>
              <a:t>└──────────────────────────────┘</a:t>
            </a:r>
          </a:p>
          <a:p>
            <a:pPr algn="l"/>
            <a:r>
              <a:rPr sz="1300">
                <a:solidFill>
                  <a:srgbClr val="FFFFFF"/>
                </a:solidFill>
              </a:rPr>
              <a:t>│</a:t>
            </a:r>
          </a:p>
          <a:p>
            <a:pPr algn="l"/>
            <a:r>
              <a:rPr sz="1300">
                <a:solidFill>
                  <a:srgbClr val="FFFFFF"/>
                </a:solidFill>
              </a:rPr>
              <a:t>Augmented SOTA+1 Synthesis</a:t>
            </a:r>
          </a:p>
          <a:p>
            <a:pPr algn="l"/>
            <a:r>
              <a:rPr sz="1300">
                <a:solidFill>
                  <a:srgbClr val="FFFFFF"/>
                </a:solidFill>
              </a:rPr>
              <a:t>│</a:t>
            </a:r>
          </a:p>
          <a:p>
            <a:pPr algn="l"/>
            <a:r>
              <a:rPr sz="1300">
                <a:solidFill>
                  <a:srgbClr val="FFFFFF"/>
                </a:solidFill>
              </a:rPr>
              <a:t>Probabilistic Filter (D_Perf Triage)</a:t>
            </a:r>
          </a:p>
          <a:p>
            <a:pPr algn="l"/>
            <a:r>
              <a:rPr sz="1300">
                <a:solidFill>
                  <a:srgbClr val="FFFFFF"/>
                </a:solidFill>
              </a:rPr>
              <a:t>├── Pass (Viable) → Physical GPU Deployment ✓</a:t>
            </a:r>
          </a:p>
          <a:p>
            <a:pPr algn="l"/>
            <a:r>
              <a:rPr sz="1300">
                <a:solidFill>
                  <a:srgbClr val="FFFFFF"/>
                </a:solidFill>
              </a:rPr>
              <a:t>└── Fail (High-Value Error)</a:t>
            </a:r>
          </a:p>
          <a:p>
            <a:pPr algn="l"/>
            <a:r>
              <a:rPr sz="1300">
                <a:solidFill>
                  <a:srgbClr val="FFFFFF"/>
                </a:solidFill>
              </a:rPr>
              <a:t>│</a:t>
            </a:r>
          </a:p>
          <a:p>
            <a:pPr algn="l"/>
            <a:r>
              <a:rPr sz="1300">
                <a:solidFill>
                  <a:srgbClr val="FFFFFF"/>
                </a:solidFill>
              </a:rPr>
              <a:t>Organic Negative Data</a:t>
            </a:r>
          </a:p>
          <a:p>
            <a:pPr algn="l"/>
            <a:r>
              <a:rPr sz="1300">
                <a:solidFill>
                  <a:srgbClr val="FFFFFF"/>
                </a:solidFill>
              </a:rPr>
              <a:t>└── In-Context RL Feedback → back to Empirical Agents</a:t>
            </a:r>
          </a:p>
          <a:p>
            <a:pPr algn="l"/>
          </a:p>
          <a:p>
            <a:pPr algn="l">
              <a:spcAft>
                <a:spcPts val="400"/>
              </a:spcAft>
            </a:pPr>
            <a:r>
              <a:rPr sz="1300">
                <a:solidFill>
                  <a:srgbClr val="FFFFFF"/>
                </a:solidFill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1300">
                <a:solidFill>
                  <a:srgbClr val="FFFFFF"/>
                </a:solidFill>
              </a:rPr>
              <a:t/>
            </a:r>
          </a:p>
          <a:p>
            <a:pPr algn="l"/>
            <a:r>
              <a:rPr sz="1300">
                <a:solidFill>
                  <a:srgbClr val="FFFFFF"/>
                </a:solidFill>
              </a:rPr>
              <a:t>Once the 80/20 bottleneck is identified, two autonomous agent classes deploy in parallel:</a:t>
            </a:r>
          </a:p>
          <a:p>
            <a:pPr algn="l">
              <a:spcAft>
                <a:spcPts val="400"/>
              </a:spcAft>
            </a:pPr>
            <a:r>
              <a:rPr sz="1300">
                <a:solidFill>
                  <a:srgbClr val="FFFFFF"/>
                </a:solidFill>
              </a:rPr>
              <a:t/>
            </a:r>
          </a:p>
          <a:p>
            <a:pPr algn="l"/>
            <a:r>
              <a:rPr sz="1300">
                <a:solidFill>
                  <a:srgbClr val="FFFFFF"/>
                </a:solidFill>
              </a:rPr>
              <a:t>1. Literature Agents (Agentic RAG): Scour arXiv and technical databases in real time —</a:t>
            </a:r>
          </a:p>
          <a:p>
            <a:pPr algn="l"/>
            <a:r>
              <a:rPr sz="1300">
                <a:solidFill>
                  <a:srgbClr val="FFFFFF"/>
                </a:solidFill>
              </a:rPr>
              <a:t>retrieving knowledge published *after* the model's training cutoff. Parametric blindspot</a:t>
            </a:r>
          </a:p>
          <a:p>
            <a:pPr algn="l"/>
            <a:r>
              <a:rPr sz="1300">
                <a:solidFill>
                  <a:srgbClr val="FFFFFF"/>
                </a:solidFill>
              </a:rPr>
              <a:t>eliminated.</a:t>
            </a:r>
          </a:p>
          <a:p>
            <a:pPr algn="l">
              <a:spcAft>
                <a:spcPts val="400"/>
              </a:spcAft>
            </a:pPr>
            <a:r>
              <a:rPr sz="1300">
                <a:solidFill>
                  <a:srgbClr val="FFFFFF"/>
                </a:solidFill>
              </a:rPr>
              <a:t/>
            </a:r>
          </a:p>
          <a:p>
            <a:pPr algn="l"/>
            <a:r>
              <a:rPr sz="1300">
                <a:solidFill>
                  <a:srgbClr val="FFFFFF"/>
                </a:solidFill>
              </a:rPr>
              <a:t>2. Empirical Agents: Execute micro-experiments. Physical metrics flow back as RL reward</a:t>
            </a:r>
          </a:p>
          <a:p>
            <a:pPr algn="l"/>
            <a:r>
              <a:rPr sz="1300">
                <a:solidFill>
                  <a:srgbClr val="FFFFFF"/>
                </a:solidFill>
              </a:rPr>
              <a:t>signals. Failed experiments are *not discarded* — they become the highest-quality</a:t>
            </a:r>
          </a:p>
          <a:p>
            <a:pPr algn="l"/>
            <a:r>
              <a:rPr sz="1300">
                <a:solidFill>
                  <a:srgbClr val="FFFFFF"/>
                </a:solidFill>
              </a:rPr>
              <a:t>negative training examples the system can produce.</a:t>
            </a:r>
          </a:p>
          <a:p>
            <a:pPr algn="l">
              <a:spcAft>
                <a:spcPts val="400"/>
              </a:spcAft>
            </a:pPr>
            <a:r>
              <a:rPr sz="1300">
                <a:solidFill>
                  <a:srgbClr val="FFFFFF"/>
                </a:solidFill>
              </a:rPr>
              <a:t/>
            </a:r>
          </a:p>
          <a:p>
            <a:pPr algn="l"/>
            <a:r>
              <a:rPr sz="1300">
                <a:solidFill>
                  <a:srgbClr val="FFFFFF"/>
                </a:solidFill>
              </a:rPr>
              <a:t>The loop is self-hardening. Every failure makes the next hypothesis smarter.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6263640"/>
            <a:ext cx="1161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CCD6E0"/>
                </a:solidFill>
              </a:rPr>
              <a:t>ETFT (AutoScientist) · Lukas Benda · lukas.benda@boldpivot.cz · Confidential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09728"/>
            <a:ext cx="11612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00B4D8"/>
                </a:solidFill>
              </a:rPr>
              <a:t>SLIDE 7 — COMPETITIVE LANDSCAPE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502920"/>
            <a:ext cx="116128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ETFT vs. the field — a structural difference, not a feature difference.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325880"/>
            <a:ext cx="11612880" cy="45262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CCD6E0"/>
                </a:solidFill>
              </a:rPr>
              <a:t>Capability  |  Sakana AI  |  AutoScience (DeepMind)  |  ETFT (AutoScientist)</a:t>
            </a:r>
          </a:p>
          <a:p>
            <a:pPr algn="l"/>
          </a:p>
          <a:p>
            <a:pPr algn="l"/>
            <a:r>
              <a:rPr sz="1100">
                <a:solidFill>
                  <a:srgbClr val="CCD6E0"/>
                </a:solidFill>
              </a:rPr>
              <a:t>Autonomous hypothesis generation  |  ✓  |  ✓  |  ✓</a:t>
            </a:r>
          </a:p>
          <a:p>
            <a:pPr algn="l"/>
            <a:r>
              <a:rPr sz="1100">
                <a:solidFill>
                  <a:srgbClr val="CCD6E0"/>
                </a:solidFill>
              </a:rPr>
              <a:t>Knowledge cutoff bypass (live RAG)  |  ✗  |  Partial  |  ✓ Structural</a:t>
            </a:r>
          </a:p>
          <a:p>
            <a:pPr algn="l"/>
            <a:r>
              <a:rPr sz="1100">
                <a:solidFill>
                  <a:srgbClr val="CCD6E0"/>
                </a:solidFill>
              </a:rPr>
              <a:t>Recursive negative data flywheel  |  ✗  |  ✗  |  ✓ Native</a:t>
            </a:r>
          </a:p>
          <a:p>
            <a:pPr algn="l"/>
            <a:r>
              <a:rPr sz="1100">
                <a:solidFill>
                  <a:srgbClr val="CCD6E0"/>
                </a:solidFill>
              </a:rPr>
              <a:t>Probabilistic OOM triage (D_Perf)  |  ✗  |  ✗  |  ✓</a:t>
            </a:r>
          </a:p>
          <a:p>
            <a:pPr algn="l"/>
            <a:r>
              <a:rPr sz="1100">
                <a:solidFill>
                  <a:srgbClr val="CCD6E0"/>
                </a:solidFill>
              </a:rPr>
              <a:t>Domain-agnostic (beyond DL code)  |  ✗  |  ✗  |  ✓ By design</a:t>
            </a:r>
          </a:p>
          <a:p>
            <a:pPr algn="l"/>
            <a:r>
              <a:rPr sz="1100">
                <a:solidFill>
                  <a:srgbClr val="CCD6E0"/>
                </a:solidFill>
              </a:rPr>
              <a:t>GPU-Poor validated PoC  |  ✗  |  ✗  |  ✓ (April 2026)</a:t>
            </a:r>
          </a:p>
          <a:p>
            <a:pPr algn="l"/>
            <a:r>
              <a:rPr sz="1100">
                <a:solidFill>
                  <a:srgbClr val="CCD6E0"/>
                </a:solidFill>
              </a:rPr>
              <a:t>Proven Pareto bottleneck oracle  |  ✗  |  ✗  |  ✓</a:t>
            </a:r>
          </a:p>
          <a:p>
            <a:pPr algn="l">
              <a:spcAft>
                <a:spcPts val="400"/>
              </a:spcAft>
            </a:pPr>
            <a:r>
              <a:rPr sz="1300">
                <a:solidFill>
                  <a:srgbClr val="FFFFFF"/>
                </a:solidFill>
              </a:rPr>
              <a:t/>
            </a:r>
          </a:p>
          <a:p>
            <a:pPr algn="l"/>
            <a:r>
              <a:rPr sz="1300">
                <a:solidFill>
                  <a:srgbClr val="FFFFFF"/>
                </a:solidFill>
              </a:rPr>
              <a:t>Key differentiator:</a:t>
            </a:r>
          </a:p>
          <a:p>
            <a:pPr algn="l">
              <a:spcAft>
                <a:spcPts val="400"/>
              </a:spcAft>
            </a:pPr>
            <a:r>
              <a:rPr sz="1300">
                <a:solidFill>
                  <a:srgbClr val="FFFFFF"/>
                </a:solidFill>
              </a:rPr>
              <a:t/>
            </a:r>
          </a:p>
          <a:p>
            <a:pPr algn="l"/>
            <a:r>
              <a:rPr sz="1300">
                <a:solidFill>
                  <a:srgbClr val="FFFFFF"/>
                </a:solidFill>
              </a:rPr>
              <a:t>Sakana AI and AutoScience automate *search in hypothesis space*. ETFT automates the</a:t>
            </a:r>
          </a:p>
          <a:p>
            <a:pPr algn="l"/>
            <a:r>
              <a:rPr sz="1300">
                <a:solidFill>
                  <a:srgbClr val="FFFFFF"/>
                </a:solidFill>
              </a:rPr>
              <a:t>learning of how to search — a second-order advantage that compounds with every</a:t>
            </a:r>
          </a:p>
          <a:p>
            <a:pPr algn="l"/>
            <a:r>
              <a:rPr sz="1300">
                <a:solidFill>
                  <a:srgbClr val="FFFFFF"/>
                </a:solidFill>
              </a:rPr>
              <a:t>experiment run.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6263640"/>
            <a:ext cx="1161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CCD6E0"/>
                </a:solidFill>
              </a:rPr>
              <a:t>ETFT (AutoScientist) · Lukas Benda · lukas.benda@boldpivot.cz · Confidential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09728"/>
            <a:ext cx="11612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00B4D8"/>
                </a:solidFill>
              </a:rPr>
              <a:t>SLIDE 8 — GPU-POOR POC: PROOF IT WORKS NOW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502920"/>
            <a:ext cx="116128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SOTA+1 in TinyML — autonomously discovered in minutes, on a $1,500 GPU.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325880"/>
            <a:ext cx="11612880" cy="45262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CCD6E0"/>
                </a:solidFill>
              </a:rPr>
              <a:t>Metric  |  Human-designed SOTA (a₃)  |  ETFT SOTA+1 (a₄)</a:t>
            </a:r>
          </a:p>
          <a:p>
            <a:pPr algn="l"/>
          </a:p>
          <a:p>
            <a:pPr algn="l"/>
            <a:r>
              <a:rPr sz="1100">
                <a:solidFill>
                  <a:srgbClr val="CCD6E0"/>
                </a:solidFill>
              </a:rPr>
              <a:t>Accuracy  |  93.0%  |  94.2%</a:t>
            </a:r>
          </a:p>
          <a:p>
            <a:pPr algn="l"/>
            <a:r>
              <a:rPr sz="1100">
                <a:solidFill>
                  <a:srgbClr val="CCD6E0"/>
                </a:solidFill>
              </a:rPr>
              <a:t>Peak RAM  |  18 KB  |  11 KB</a:t>
            </a:r>
          </a:p>
          <a:p>
            <a:pPr algn="l"/>
            <a:r>
              <a:rPr sz="1100">
                <a:solidFill>
                  <a:srgbClr val="CCD6E0"/>
                </a:solidFill>
              </a:rPr>
              <a:t>Discovery method  |  Human researcher, months  |  Autonomous agent, minutes</a:t>
            </a:r>
          </a:p>
          <a:p>
            <a:pPr algn="l"/>
            <a:r>
              <a:rPr sz="1100">
                <a:solidFill>
                  <a:srgbClr val="CCD6E0"/>
                </a:solidFill>
              </a:rPr>
              <a:t>Compute required  |  H100 cluster  |  Consumer RTX 4090</a:t>
            </a:r>
          </a:p>
          <a:p>
            <a:pPr algn="l">
              <a:spcAft>
                <a:spcPts val="400"/>
              </a:spcAft>
            </a:pPr>
            <a:r>
              <a:rPr sz="1300">
                <a:solidFill>
                  <a:srgbClr val="FFFFFF"/>
                </a:solidFill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1300">
                <a:solidFill>
                  <a:srgbClr val="FFFFFF"/>
                </a:solidFill>
              </a:rPr>
              <a:t/>
            </a:r>
          </a:p>
          <a:p>
            <a:pPr algn="l"/>
            <a:r>
              <a:rPr sz="1300">
                <a:solidFill>
                  <a:srgbClr val="FFFFFF"/>
                </a:solidFill>
              </a:rPr>
              <a:t>The "GPU-Poor" PoC deliberately avoids large-scale compute to prove the *cognitive</a:t>
            </a:r>
          </a:p>
          <a:p>
            <a:pPr algn="l"/>
            <a:r>
              <a:rPr sz="1300">
                <a:solidFill>
                  <a:srgbClr val="FFFFFF"/>
                </a:solidFill>
              </a:rPr>
              <a:t>architecture* works independently of hardware:</a:t>
            </a:r>
          </a:p>
          <a:p>
            <a:pPr algn="l">
              <a:spcAft>
                <a:spcPts val="400"/>
              </a:spcAft>
            </a:pPr>
            <a:r>
              <a:rPr sz="1300">
                <a:solidFill>
                  <a:srgbClr val="FFFFFF"/>
                </a:solidFill>
              </a:rPr>
              <a:t/>
            </a:r>
          </a:p>
          <a:p>
            <a:pPr algn="l" lvl="1"/>
            <a:r>
              <a:rPr sz="1200">
                <a:solidFill>
                  <a:srgbClr val="CCD6E0"/>
                </a:solidFill>
              </a:rPr>
              <a:t>• Evolutionary trajectory (MLP → MobileNetV2) injected into context</a:t>
            </a:r>
          </a:p>
          <a:p>
            <a:pPr algn="l" lvl="1"/>
            <a:r>
              <a:rPr sz="1200">
                <a:solidFill>
                  <a:srgbClr val="CCD6E0"/>
                </a:solidFill>
              </a:rPr>
              <a:t>• Agent issued Pareto analysis, literature retrieval, and synthesis directives</a:t>
            </a:r>
          </a:p>
          <a:p>
            <a:pPr algn="l" lvl="1"/>
            <a:r>
              <a:rPr sz="1200">
                <a:solidFill>
                  <a:srgbClr val="CCD6E0"/>
                </a:solidFill>
              </a:rPr>
              <a:t>• By iteration 3 the agent stabilised a 1D State Space Model (Mamba-style)</a:t>
            </a:r>
          </a:p>
          <a:p>
            <a:pPr algn="l"/>
            <a:r>
              <a:rPr sz="1300">
                <a:solidFill>
                  <a:srgbClr val="FFFFFF"/>
                </a:solidFill>
              </a:rPr>
              <a:t>discovered from post-cutoff literature — surpassing every human-designed baseline</a:t>
            </a:r>
          </a:p>
          <a:p>
            <a:pPr algn="l">
              <a:spcAft>
                <a:spcPts val="400"/>
              </a:spcAft>
            </a:pPr>
            <a:r>
              <a:rPr sz="1300">
                <a:solidFill>
                  <a:srgbClr val="FFFFFF"/>
                </a:solidFill>
              </a:rPr>
              <a:t/>
            </a:r>
          </a:p>
          <a:p>
            <a:pPr algn="l"/>
            <a:r>
              <a:rPr sz="1300">
                <a:solidFill>
                  <a:srgbClr val="FFFFFF"/>
                </a:solidFill>
              </a:rPr>
              <a:t>The PoC is reproducible on a free Google Colab instance.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6263640"/>
            <a:ext cx="1161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CCD6E0"/>
                </a:solidFill>
              </a:rPr>
              <a:t>ETFT (AutoScientist) · Lukas Benda · lukas.benda@boldpivot.cz · Confidential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09728"/>
            <a:ext cx="11612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00B4D8"/>
                </a:solidFill>
              </a:rPr>
              <a:t>SLIDE 9 — FROM DEEP LEARNING TO GENERAL INNOVATION ACCELERATOR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502920"/>
            <a:ext cx="116128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The same engine that invents neural architectures can evolve anything.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325880"/>
            <a:ext cx="11612880" cy="45262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lvl="1"/>
            <a:r>
              <a:rPr sz="1200">
                <a:solidFill>
                  <a:srgbClr val="CCD6E0"/>
                </a:solidFill>
              </a:rPr>
              <a:t>• Tier 1 (base): Code &amp; algorithm optimisation (validated PoC)</a:t>
            </a:r>
          </a:p>
          <a:p>
            <a:pPr algn="l" lvl="1"/>
            <a:r>
              <a:rPr sz="1200">
                <a:solidFill>
                  <a:srgbClr val="CCD6E0"/>
                </a:solidFill>
              </a:rPr>
              <a:t>• Tier 2 (middle): Scientific blueprints &amp; foundational papers (Second-Order Innovation)</a:t>
            </a:r>
          </a:p>
          <a:p>
            <a:pPr algn="l" lvl="1"/>
            <a:r>
              <a:rPr sz="1200">
                <a:solidFill>
                  <a:srgbClr val="CCD6E0"/>
                </a:solidFill>
              </a:rPr>
              <a:t>• Tier 3 (apex): Organisational structures, societal systems (Meta-Evolution)</a:t>
            </a:r>
          </a:p>
          <a:p>
            <a:pPr algn="l">
              <a:spcAft>
                <a:spcPts val="400"/>
              </a:spcAft>
            </a:pPr>
            <a:r>
              <a:rPr sz="1300">
                <a:solidFill>
                  <a:srgbClr val="FFFFFF"/>
                </a:solidFill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1300">
                <a:solidFill>
                  <a:srgbClr val="FFFFFF"/>
                </a:solidFill>
              </a:rPr>
              <a:t/>
            </a:r>
          </a:p>
          <a:p>
            <a:pPr algn="l"/>
            <a:r>
              <a:rPr sz="1300">
                <a:solidFill>
                  <a:srgbClr val="FFFFFF"/>
                </a:solidFill>
              </a:rPr>
              <a:t>An algorithm is any ordered sequence of instructions designed to solve a problem.</a:t>
            </a:r>
          </a:p>
          <a:p>
            <a:pPr algn="l"/>
            <a:r>
              <a:rPr sz="1300">
                <a:solidFill>
                  <a:srgbClr val="FFFFFF"/>
                </a:solidFill>
              </a:rPr>
              <a:t>A pharmaceutical synthesis protocol is an algorithm. A clinical trial design is an algorithm.</a:t>
            </a:r>
          </a:p>
          <a:p>
            <a:pPr algn="l"/>
            <a:r>
              <a:rPr sz="1300">
                <a:solidFill>
                  <a:srgbClr val="FFFFFF"/>
                </a:solidFill>
              </a:rPr>
              <a:t>A global supply chain is an algorithm. An organisation is a macro-algorithm.</a:t>
            </a:r>
          </a:p>
          <a:p>
            <a:pPr algn="l">
              <a:spcAft>
                <a:spcPts val="400"/>
              </a:spcAft>
            </a:pPr>
            <a:r>
              <a:rPr sz="1300">
                <a:solidFill>
                  <a:srgbClr val="FFFFFF"/>
                </a:solidFill>
              </a:rPr>
              <a:t/>
            </a:r>
          </a:p>
          <a:p>
            <a:pPr algn="l"/>
            <a:r>
              <a:rPr sz="1300">
                <a:solidFill>
                  <a:srgbClr val="FFFFFF"/>
                </a:solidFill>
              </a:rPr>
              <a:t>Once ETFT can map evolutionary trajectories in one domain, the framework transfers.</a:t>
            </a:r>
          </a:p>
          <a:p>
            <a:pPr algn="l"/>
            <a:r>
              <a:rPr sz="1300">
                <a:solidFill>
                  <a:srgbClr val="FFFFFF"/>
                </a:solidFill>
              </a:rPr>
              <a:t>The General Innovation Accelerator does not compete with domain experts —</a:t>
            </a:r>
          </a:p>
          <a:p>
            <a:pPr algn="l"/>
            <a:r>
              <a:rPr sz="1300">
                <a:solidFill>
                  <a:srgbClr val="FFFFFF"/>
                </a:solidFill>
              </a:rPr>
              <a:t>it gives them the autonomous research scientist they never had.</a:t>
            </a:r>
          </a:p>
          <a:p>
            <a:pPr algn="l">
              <a:spcAft>
                <a:spcPts val="400"/>
              </a:spcAft>
            </a:pPr>
            <a:r>
              <a:rPr sz="1300">
                <a:solidFill>
                  <a:srgbClr val="FFFFFF"/>
                </a:solidFill>
              </a:rPr>
              <a:t/>
            </a:r>
          </a:p>
          <a:p>
            <a:pPr algn="l"/>
            <a:r>
              <a:rPr sz="1300">
                <a:solidFill>
                  <a:srgbClr val="FFFFFF"/>
                </a:solidFill>
              </a:rPr>
              <a:t>Expanding the objective function to encode human wellbeing as the reward signal</a:t>
            </a:r>
          </a:p>
          <a:p>
            <a:pPr algn="l"/>
            <a:r>
              <a:rPr sz="1300">
                <a:solidFill>
                  <a:srgbClr val="FFFFFF"/>
                </a:solidFill>
              </a:rPr>
              <a:t>opens targets no purely capital-efficiency model can reach.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6263640"/>
            <a:ext cx="1161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CCD6E0"/>
                </a:solidFill>
              </a:rPr>
              <a:t>ETFT (AutoScientist) · Lukas Benda · lukas.benda@boldpivot.cz · Confidential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09728"/>
            <a:ext cx="11612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00B4D8"/>
                </a:solidFill>
              </a:rPr>
              <a:t>SLIDE 10 — THE ASK &amp; 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502920"/>
            <a:ext cx="116128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What we need. What you get.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325880"/>
            <a:ext cx="11612880" cy="45262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>
                <a:solidFill>
                  <a:srgbClr val="FFFFFF"/>
                </a:solidFill>
              </a:rPr>
              <a:t>Milestone roadmap:</a:t>
            </a:r>
          </a:p>
          <a:p>
            <a:pPr algn="l">
              <a:spcAft>
                <a:spcPts val="400"/>
              </a:spcAft>
            </a:pPr>
            <a:r>
              <a:rPr sz="1300">
                <a:solidFill>
                  <a:srgbClr val="FFFFFF"/>
                </a:solidFill>
              </a:rPr>
              <a:t/>
            </a:r>
          </a:p>
          <a:p>
            <a:pPr algn="l"/>
            <a:r>
              <a:rPr sz="1100">
                <a:solidFill>
                  <a:srgbClr val="CCD6E0"/>
                </a:solidFill>
              </a:rPr>
              <a:t>Phase  |  Timeline  |  Deliverable</a:t>
            </a:r>
          </a:p>
          <a:p>
            <a:pPr algn="l"/>
          </a:p>
          <a:p>
            <a:pPr algn="l"/>
            <a:r>
              <a:rPr sz="1100">
                <a:solidFill>
                  <a:srgbClr val="CCD6E0"/>
                </a:solidFill>
              </a:rPr>
              <a:t>PoC validated  |  [DONE] April 2026  |  TinyML SOTA+1 discovery, reproducible</a:t>
            </a:r>
          </a:p>
          <a:p>
            <a:pPr algn="l"/>
            <a:r>
              <a:rPr sz="1100">
                <a:solidFill>
                  <a:srgbClr val="CCD6E0"/>
                </a:solidFill>
              </a:rPr>
              <a:t>Seed round  |  Q2 2026  |  Compute infra, 3-person core team</a:t>
            </a:r>
          </a:p>
          <a:p>
            <a:pPr algn="l"/>
            <a:r>
              <a:rPr sz="1100">
                <a:solidFill>
                  <a:srgbClr val="CCD6E0"/>
                </a:solidFill>
              </a:rPr>
              <a:t>Full DL benchmark  |  Q3 2026  |  ETFT applied to ImageNet / LLM architectures</a:t>
            </a:r>
          </a:p>
          <a:p>
            <a:pPr algn="l"/>
            <a:r>
              <a:rPr sz="1100">
                <a:solidFill>
                  <a:srgbClr val="CCD6E0"/>
                </a:solidFill>
              </a:rPr>
              <a:t>Domain expansion  |  Q4 2026  |  Pharma / materials science pilot partner</a:t>
            </a:r>
          </a:p>
          <a:p>
            <a:pPr algn="l"/>
            <a:r>
              <a:rPr sz="1100">
                <a:solidFill>
                  <a:srgbClr val="CCD6E0"/>
                </a:solidFill>
              </a:rPr>
              <a:t>Series A readiness  |  Q1 2027  |  Revenue pipeline from IP licensing &amp; API access</a:t>
            </a:r>
          </a:p>
          <a:p>
            <a:pPr algn="l">
              <a:spcAft>
                <a:spcPts val="400"/>
              </a:spcAft>
            </a:pPr>
            <a:r>
              <a:rPr sz="1300">
                <a:solidFill>
                  <a:srgbClr val="FFFFFF"/>
                </a:solidFill>
              </a:rPr>
              <a:t/>
            </a:r>
          </a:p>
          <a:p>
            <a:pPr algn="l"/>
            <a:r>
              <a:rPr sz="1300">
                <a:solidFill>
                  <a:srgbClr val="FFFFFF"/>
                </a:solidFill>
              </a:rPr>
              <a:t>The ask: Seed investment to fund 12 months of compute and engineering.</a:t>
            </a:r>
          </a:p>
          <a:p>
            <a:pPr algn="l">
              <a:spcAft>
                <a:spcPts val="400"/>
              </a:spcAft>
            </a:pPr>
            <a:r>
              <a:rPr sz="1300">
                <a:solidFill>
                  <a:srgbClr val="FFFFFF"/>
                </a:solidFill>
              </a:rPr>
              <a:t/>
            </a:r>
          </a:p>
          <a:p>
            <a:pPr algn="l"/>
            <a:r>
              <a:rPr sz="1300">
                <a:solidFill>
                  <a:srgbClr val="FFFFFF"/>
                </a:solidFill>
              </a:rPr>
              <a:t>What investors get:</a:t>
            </a:r>
          </a:p>
          <a:p>
            <a:pPr algn="l" lvl="1"/>
            <a:r>
              <a:rPr sz="1200">
                <a:solidFill>
                  <a:srgbClr val="CCD6E0"/>
                </a:solidFill>
              </a:rPr>
              <a:t>• Equity in the IP layer of autonomous scientific discovery</a:t>
            </a:r>
          </a:p>
          <a:p>
            <a:pPr algn="l" lvl="1"/>
            <a:r>
              <a:rPr sz="1200">
                <a:solidFill>
                  <a:srgbClr val="CCD6E0"/>
                </a:solidFill>
              </a:rPr>
              <a:t>• First access to licensing deals with pharma, semiconductor, and defence R&amp;D organisations</a:t>
            </a:r>
          </a:p>
          <a:p>
            <a:pPr algn="l" lvl="1"/>
            <a:r>
              <a:rPr sz="1200">
                <a:solidFill>
                  <a:srgbClr val="CCD6E0"/>
                </a:solidFill>
              </a:rPr>
              <a:t>• A front-row seat to the next Eroom's Law reversal</a:t>
            </a:r>
          </a:p>
          <a:p>
            <a:pPr algn="l">
              <a:spcAft>
                <a:spcPts val="400"/>
              </a:spcAft>
            </a:pPr>
            <a:r>
              <a:rPr sz="1300">
                <a:solidFill>
                  <a:srgbClr val="FFFFFF"/>
                </a:solidFill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1300">
                <a:solidFill>
                  <a:srgbClr val="FFFFFF"/>
                </a:solidFill>
              </a:rPr>
              <a:t/>
            </a:r>
          </a:p>
          <a:p>
            <a:pPr algn="l"/>
            <a:r>
              <a:rPr sz="1300">
                <a:solidFill>
                  <a:srgbClr val="FFFFFF"/>
                </a:solidFill>
              </a:rPr>
              <a:t>*Links: [Demo video — ETFT__AI_Research_Scientist.mp4] · [Full Technical Whitepaper — available under NDA]*</a:t>
            </a:r>
          </a:p>
          <a:p>
            <a:pPr algn="l">
              <a:spcAft>
                <a:spcPts val="400"/>
              </a:spcAft>
            </a:pPr>
            <a:r>
              <a:rPr sz="1300">
                <a:solidFill>
                  <a:srgbClr val="FFFFFF"/>
                </a:solidFill>
              </a:rPr>
              <a:t/>
            </a:r>
          </a:p>
          <a:p>
            <a:pPr algn="l"/>
            <a:r>
              <a:rPr sz="1300">
                <a:solidFill>
                  <a:srgbClr val="FFFFFF"/>
                </a:solidFill>
              </a:rPr>
              <a:t>*Contact: Lukas Benda · lukas.benda@boldpivot.cz*</a:t>
            </a:r>
          </a:p>
          <a:p>
            <a:pPr algn="l">
              <a:spcAft>
                <a:spcPts val="400"/>
              </a:spcAft>
            </a:pPr>
            <a:r>
              <a:rPr sz="1300">
                <a:solidFill>
                  <a:srgbClr val="FFFFFF"/>
                </a:solidFill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1300">
                <a:solidFill>
                  <a:srgbClr val="FFFFFF"/>
                </a:solidFill>
              </a:rPr>
              <a:t/>
            </a:r>
          </a:p>
          <a:p>
            <a:pPr algn="l"/>
            <a:r>
              <a:rPr sz="1300">
                <a:solidFill>
                  <a:srgbClr val="FFFFFF"/>
                </a:solidFill>
              </a:rPr>
              <a:t>*[Soubor B — Strategic Deck | DocSend: stahování zakázáno · Dynamic Watermarking: zapnuto]*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6263640"/>
            <a:ext cx="1161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CCD6E0"/>
                </a:solidFill>
              </a:rPr>
              <a:t>ETFT (AutoScientist) · Lukas Benda · lukas.benda@boldpivot.cz · Confidential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